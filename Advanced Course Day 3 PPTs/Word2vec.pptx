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332" r:id="rId2"/>
    <p:sldId id="328" r:id="rId3"/>
    <p:sldId id="291" r:id="rId4"/>
    <p:sldId id="311" r:id="rId5"/>
    <p:sldId id="310" r:id="rId6"/>
    <p:sldId id="286" r:id="rId7"/>
    <p:sldId id="292" r:id="rId8"/>
    <p:sldId id="325" r:id="rId9"/>
    <p:sldId id="334" r:id="rId10"/>
    <p:sldId id="295" r:id="rId11"/>
    <p:sldId id="290" r:id="rId12"/>
    <p:sldId id="287" r:id="rId13"/>
    <p:sldId id="288" r:id="rId14"/>
    <p:sldId id="289" r:id="rId15"/>
    <p:sldId id="285" r:id="rId16"/>
    <p:sldId id="314" r:id="rId17"/>
    <p:sldId id="308" r:id="rId18"/>
    <p:sldId id="309" r:id="rId19"/>
    <p:sldId id="296" r:id="rId20"/>
    <p:sldId id="297" r:id="rId21"/>
    <p:sldId id="329" r:id="rId22"/>
    <p:sldId id="299" r:id="rId23"/>
    <p:sldId id="293" r:id="rId24"/>
    <p:sldId id="294" r:id="rId25"/>
    <p:sldId id="335" r:id="rId26"/>
    <p:sldId id="333" r:id="rId27"/>
    <p:sldId id="281" r:id="rId28"/>
    <p:sldId id="282" r:id="rId29"/>
    <p:sldId id="283" r:id="rId30"/>
    <p:sldId id="315" r:id="rId31"/>
    <p:sldId id="284" r:id="rId32"/>
    <p:sldId id="316" r:id="rId33"/>
    <p:sldId id="317" r:id="rId34"/>
    <p:sldId id="318" r:id="rId35"/>
    <p:sldId id="320" r:id="rId36"/>
    <p:sldId id="338" r:id="rId37"/>
    <p:sldId id="339" r:id="rId38"/>
    <p:sldId id="340" r:id="rId39"/>
    <p:sldId id="584" r:id="rId40"/>
    <p:sldId id="323" r:id="rId41"/>
    <p:sldId id="324" r:id="rId42"/>
    <p:sldId id="336" r:id="rId43"/>
    <p:sldId id="337" r:id="rId44"/>
    <p:sldId id="330" r:id="rId45"/>
    <p:sldId id="258" r:id="rId46"/>
    <p:sldId id="259" r:id="rId47"/>
    <p:sldId id="260" r:id="rId48"/>
    <p:sldId id="261" r:id="rId49"/>
    <p:sldId id="262" r:id="rId50"/>
    <p:sldId id="264" r:id="rId51"/>
    <p:sldId id="263" r:id="rId52"/>
    <p:sldId id="265" r:id="rId53"/>
    <p:sldId id="331" r:id="rId54"/>
    <p:sldId id="267" r:id="rId55"/>
    <p:sldId id="266" r:id="rId56"/>
    <p:sldId id="300" r:id="rId57"/>
    <p:sldId id="301" r:id="rId58"/>
    <p:sldId id="302" r:id="rId59"/>
    <p:sldId id="304" r:id="rId60"/>
    <p:sldId id="303" r:id="rId61"/>
    <p:sldId id="269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AC300D-E27F-4AFB-8385-23A3F3CA89FC}" type="doc">
      <dgm:prSet loTypeId="urn:microsoft.com/office/officeart/2008/layout/VerticalCurvedList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D367BE5C-0F3A-4AB0-9359-B776EBBB96E8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rgbClr val="00B0F0"/>
        </a:solidFill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b="0" dirty="0">
              <a:latin typeface="Calibri" panose="020F0502020204030204" pitchFamily="34" charset="0"/>
              <a:cs typeface="Calibri" panose="020F0502020204030204" pitchFamily="34" charset="0"/>
            </a:rPr>
            <a:t>       Vectorization</a:t>
          </a:r>
        </a:p>
      </dgm:t>
    </dgm:pt>
    <dgm:pt modelId="{645097FC-E8BC-4765-BFDE-80FFD33C56D2}" type="parTrans" cxnId="{98A17C1E-2D2E-4A7F-A4DF-C7CE8D52E74D}">
      <dgm:prSet/>
      <dgm:spPr/>
      <dgm:t>
        <a:bodyPr/>
        <a:lstStyle/>
        <a:p>
          <a:endParaRPr lang="en-IN"/>
        </a:p>
      </dgm:t>
    </dgm:pt>
    <dgm:pt modelId="{F18B1F0E-8219-4BFA-A849-7B03740D42DD}" type="sibTrans" cxnId="{98A17C1E-2D2E-4A7F-A4DF-C7CE8D52E74D}">
      <dgm:prSet/>
      <dgm:spPr/>
      <dgm:t>
        <a:bodyPr/>
        <a:lstStyle/>
        <a:p>
          <a:endParaRPr lang="en-IN"/>
        </a:p>
      </dgm:t>
    </dgm:pt>
    <dgm:pt modelId="{9B1EDC96-EC6A-483A-BED4-686E83E23071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noFill/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    Deeper understanding of w2v</a:t>
          </a:r>
        </a:p>
      </dgm:t>
    </dgm:pt>
    <dgm:pt modelId="{9175944A-D53D-4B76-B8CC-0CC9B921C6A5}" type="parTrans" cxnId="{CB0F28CF-A080-4B7F-8D7E-6BAD74D71D82}">
      <dgm:prSet/>
      <dgm:spPr/>
      <dgm:t>
        <a:bodyPr/>
        <a:lstStyle/>
        <a:p>
          <a:endParaRPr lang="en-IN"/>
        </a:p>
      </dgm:t>
    </dgm:pt>
    <dgm:pt modelId="{08EBC0C5-1C8B-47AF-B36B-C6F27A4A3E04}" type="sibTrans" cxnId="{CB0F28CF-A080-4B7F-8D7E-6BAD74D71D82}">
      <dgm:prSet/>
      <dgm:spPr/>
      <dgm:t>
        <a:bodyPr/>
        <a:lstStyle/>
        <a:p>
          <a:endParaRPr lang="en-IN"/>
        </a:p>
      </dgm:t>
    </dgm:pt>
    <dgm:pt modelId="{A3FC8B01-A315-423A-B6A8-497CB7537C33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Basic w2v function &amp; Similarity using w2v</a:t>
          </a:r>
        </a:p>
      </dgm:t>
    </dgm:pt>
    <dgm:pt modelId="{8B0E0B0A-EC01-4520-9C38-DC3440CF1BC2}" type="sibTrans" cxnId="{26F4FD0D-13F1-4C96-AFDB-F9045F818B91}">
      <dgm:prSet/>
      <dgm:spPr/>
      <dgm:t>
        <a:bodyPr/>
        <a:lstStyle/>
        <a:p>
          <a:endParaRPr lang="en-IN"/>
        </a:p>
      </dgm:t>
    </dgm:pt>
    <dgm:pt modelId="{01F17156-9D30-42C3-9242-5D2919E38418}" type="parTrans" cxnId="{26F4FD0D-13F1-4C96-AFDB-F9045F818B91}">
      <dgm:prSet/>
      <dgm:spPr/>
      <dgm:t>
        <a:bodyPr/>
        <a:lstStyle/>
        <a:p>
          <a:endParaRPr lang="en-IN"/>
        </a:p>
      </dgm:t>
    </dgm:pt>
    <dgm:pt modelId="{87B8F9EA-3287-4520-B86C-E8F374AABE44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     Word2vec properties in </a:t>
          </a:r>
          <a:r>
            <a:rPr lang="en-IN" sz="1600" dirty="0" err="1">
              <a:latin typeface="Calibri" panose="020F0502020204030204" pitchFamily="34" charset="0"/>
              <a:cs typeface="Calibri" panose="020F0502020204030204" pitchFamily="34" charset="0"/>
            </a:rPr>
            <a:t>spaCy</a:t>
          </a:r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</a:p>
      </dgm:t>
    </dgm:pt>
    <dgm:pt modelId="{D00DD9BB-4E3D-468A-BF58-835F8D176E1A}" type="parTrans" cxnId="{3E5C6597-E866-4373-BCD9-93860DF09C5A}">
      <dgm:prSet/>
      <dgm:spPr/>
      <dgm:t>
        <a:bodyPr/>
        <a:lstStyle/>
        <a:p>
          <a:endParaRPr lang="en-US"/>
        </a:p>
      </dgm:t>
    </dgm:pt>
    <dgm:pt modelId="{D1DADF7B-4567-4705-8F68-41684E988F76}" type="sibTrans" cxnId="{3E5C6597-E866-4373-BCD9-93860DF09C5A}">
      <dgm:prSet/>
      <dgm:spPr/>
      <dgm:t>
        <a:bodyPr/>
        <a:lstStyle/>
        <a:p>
          <a:endParaRPr lang="en-US"/>
        </a:p>
      </dgm:t>
    </dgm:pt>
    <dgm:pt modelId="{1C4D2F99-C78D-42C7-80A2-5BA0887E17B1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800" dirty="0">
              <a:latin typeface="Calibri" panose="020F0502020204030204" pitchFamily="34" charset="0"/>
              <a:cs typeface="Calibri" panose="020F0502020204030204" pitchFamily="34" charset="0"/>
            </a:rPr>
            <a:t>Case study</a:t>
          </a:r>
        </a:p>
      </dgm:t>
    </dgm:pt>
    <dgm:pt modelId="{3DF86CA0-27D8-4387-B41B-57787E6E2967}" type="parTrans" cxnId="{3FADC678-B56B-4D1D-A55C-76B8D9057723}">
      <dgm:prSet/>
      <dgm:spPr/>
      <dgm:t>
        <a:bodyPr/>
        <a:lstStyle/>
        <a:p>
          <a:endParaRPr lang="en-US"/>
        </a:p>
      </dgm:t>
    </dgm:pt>
    <dgm:pt modelId="{68612A85-0C7A-4883-AF07-FA3B62E88B78}" type="sibTrans" cxnId="{3FADC678-B56B-4D1D-A55C-76B8D9057723}">
      <dgm:prSet/>
      <dgm:spPr/>
      <dgm:t>
        <a:bodyPr/>
        <a:lstStyle/>
        <a:p>
          <a:endParaRPr lang="en-US"/>
        </a:p>
      </dgm:t>
    </dgm:pt>
    <dgm:pt modelId="{24728E11-E867-4651-96BE-D4610DDC76BA}" type="pres">
      <dgm:prSet presAssocID="{C2AC300D-E27F-4AFB-8385-23A3F3CA89FC}" presName="Name0" presStyleCnt="0">
        <dgm:presLayoutVars>
          <dgm:chMax val="7"/>
          <dgm:chPref val="7"/>
          <dgm:dir/>
        </dgm:presLayoutVars>
      </dgm:prSet>
      <dgm:spPr/>
    </dgm:pt>
    <dgm:pt modelId="{59666C2D-0CBC-4177-9492-0BC7B5E83920}" type="pres">
      <dgm:prSet presAssocID="{C2AC300D-E27F-4AFB-8385-23A3F3CA89FC}" presName="Name1" presStyleCnt="0"/>
      <dgm:spPr/>
    </dgm:pt>
    <dgm:pt modelId="{782150D5-7ADF-412A-B97B-C4A85E15F3EF}" type="pres">
      <dgm:prSet presAssocID="{C2AC300D-E27F-4AFB-8385-23A3F3CA89FC}" presName="cycle" presStyleCnt="0"/>
      <dgm:spPr/>
    </dgm:pt>
    <dgm:pt modelId="{1EBC8B9F-0F17-4377-A441-FE126EC2603D}" type="pres">
      <dgm:prSet presAssocID="{C2AC300D-E27F-4AFB-8385-23A3F3CA89FC}" presName="srcNode" presStyleLbl="node1" presStyleIdx="0" presStyleCnt="5"/>
      <dgm:spPr/>
    </dgm:pt>
    <dgm:pt modelId="{B4DAE58B-27CB-4D22-AABF-50F07E30140A}" type="pres">
      <dgm:prSet presAssocID="{C2AC300D-E27F-4AFB-8385-23A3F3CA89FC}" presName="conn" presStyleLbl="parChTrans1D2" presStyleIdx="0" presStyleCnt="1" custLinFactNeighborX="-42817" custLinFactNeighborY="-1118"/>
      <dgm:spPr/>
    </dgm:pt>
    <dgm:pt modelId="{0CE6508D-66DA-4F48-ABFD-9CEB3707A663}" type="pres">
      <dgm:prSet presAssocID="{C2AC300D-E27F-4AFB-8385-23A3F3CA89FC}" presName="extraNode" presStyleLbl="node1" presStyleIdx="0" presStyleCnt="5"/>
      <dgm:spPr/>
    </dgm:pt>
    <dgm:pt modelId="{2C7897B3-3F08-40FE-87A1-0A1DD86C094E}" type="pres">
      <dgm:prSet presAssocID="{C2AC300D-E27F-4AFB-8385-23A3F3CA89FC}" presName="dstNode" presStyleLbl="node1" presStyleIdx="0" presStyleCnt="5"/>
      <dgm:spPr/>
    </dgm:pt>
    <dgm:pt modelId="{C01C0331-627E-4956-B34C-4FEAB8F0B671}" type="pres">
      <dgm:prSet presAssocID="{D367BE5C-0F3A-4AB0-9359-B776EBBB96E8}" presName="text_1" presStyleLbl="node1" presStyleIdx="0" presStyleCnt="5" custScaleX="104705" custScaleY="110627">
        <dgm:presLayoutVars>
          <dgm:bulletEnabled val="1"/>
        </dgm:presLayoutVars>
      </dgm:prSet>
      <dgm:spPr/>
    </dgm:pt>
    <dgm:pt modelId="{2B23576E-7B02-4486-B322-5ADA70C34A33}" type="pres">
      <dgm:prSet presAssocID="{D367BE5C-0F3A-4AB0-9359-B776EBBB96E8}" presName="accent_1" presStyleCnt="0"/>
      <dgm:spPr/>
    </dgm:pt>
    <dgm:pt modelId="{47DFED79-DB5B-4E8C-B682-A588521A0C1E}" type="pres">
      <dgm:prSet presAssocID="{D367BE5C-0F3A-4AB0-9359-B776EBBB96E8}" presName="accentRepeatNode" presStyleLbl="solidFgAcc1" presStyleIdx="0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rgbClr val="00B0F0"/>
        </a:solidFill>
        <a:ln>
          <a:solidFill>
            <a:schemeClr val="bg1"/>
          </a:solidFill>
        </a:ln>
      </dgm:spPr>
    </dgm:pt>
    <dgm:pt modelId="{E88317C7-90A2-4C25-9546-9B945D9DCABC}" type="pres">
      <dgm:prSet presAssocID="{A3FC8B01-A315-423A-B6A8-497CB7537C33}" presName="text_2" presStyleLbl="node1" presStyleIdx="1" presStyleCnt="5" custLinFactNeighborX="9114" custLinFactNeighborY="5530">
        <dgm:presLayoutVars>
          <dgm:bulletEnabled val="1"/>
        </dgm:presLayoutVars>
      </dgm:prSet>
      <dgm:spPr/>
    </dgm:pt>
    <dgm:pt modelId="{BB278096-0873-4494-92E4-06B0E36E6A2E}" type="pres">
      <dgm:prSet presAssocID="{A3FC8B01-A315-423A-B6A8-497CB7537C33}" presName="accent_2" presStyleCnt="0"/>
      <dgm:spPr/>
    </dgm:pt>
    <dgm:pt modelId="{E429469F-E2C2-4595-B7EA-348F95B2056B}" type="pres">
      <dgm:prSet presAssocID="{A3FC8B01-A315-423A-B6A8-497CB7537C33}" presName="accentRepeatNode" presStyleLbl="solidFgAcc1" presStyleIdx="1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</dgm:pt>
    <dgm:pt modelId="{1FC4862E-0185-4A9A-9A9C-4349F963D0D7}" type="pres">
      <dgm:prSet presAssocID="{9B1EDC96-EC6A-483A-BED4-686E83E23071}" presName="text_3" presStyleLbl="node1" presStyleIdx="2" presStyleCnt="5" custScaleX="106537">
        <dgm:presLayoutVars>
          <dgm:bulletEnabled val="1"/>
        </dgm:presLayoutVars>
      </dgm:prSet>
      <dgm:spPr/>
    </dgm:pt>
    <dgm:pt modelId="{52B3BEB8-2395-4D79-985B-307706CB31ED}" type="pres">
      <dgm:prSet presAssocID="{9B1EDC96-EC6A-483A-BED4-686E83E23071}" presName="accent_3" presStyleCnt="0"/>
      <dgm:spPr/>
    </dgm:pt>
    <dgm:pt modelId="{D57AE131-E6FE-4A12-A1A0-43665D1C7D63}" type="pres">
      <dgm:prSet presAssocID="{9B1EDC96-EC6A-483A-BED4-686E83E23071}" presName="accentRepeatNode" presStyleLbl="solidFgAcc1" presStyleIdx="2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</dgm:pt>
    <dgm:pt modelId="{1280C9D9-236B-47CE-A4E9-93A47AF7EF7D}" type="pres">
      <dgm:prSet presAssocID="{87B8F9EA-3287-4520-B86C-E8F374AABE44}" presName="text_4" presStyleLbl="node1" presStyleIdx="3" presStyleCnt="5" custScaleX="106826">
        <dgm:presLayoutVars>
          <dgm:bulletEnabled val="1"/>
        </dgm:presLayoutVars>
      </dgm:prSet>
      <dgm:spPr/>
    </dgm:pt>
    <dgm:pt modelId="{E8559CA7-49B0-4F7D-A767-E64EB4EDB3E7}" type="pres">
      <dgm:prSet presAssocID="{87B8F9EA-3287-4520-B86C-E8F374AABE44}" presName="accent_4" presStyleCnt="0"/>
      <dgm:spPr/>
    </dgm:pt>
    <dgm:pt modelId="{9553D612-A85C-486E-B461-6A4C76F01CF5}" type="pres">
      <dgm:prSet presAssocID="{87B8F9EA-3287-4520-B86C-E8F374AABE44}" presName="accentRepeatNode" presStyleLbl="solidFgAcc1" presStyleIdx="3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70C0"/>
          </a:solidFill>
        </a:ln>
      </dgm:spPr>
    </dgm:pt>
    <dgm:pt modelId="{02C60EB4-86C6-4D5A-9674-6001E5836B87}" type="pres">
      <dgm:prSet presAssocID="{1C4D2F99-C78D-42C7-80A2-5BA0887E17B1}" presName="text_5" presStyleLbl="node1" presStyleIdx="4" presStyleCnt="5" custScaleX="106347">
        <dgm:presLayoutVars>
          <dgm:bulletEnabled val="1"/>
        </dgm:presLayoutVars>
      </dgm:prSet>
      <dgm:spPr/>
    </dgm:pt>
    <dgm:pt modelId="{34851621-2954-4C63-AF8F-290194193FB3}" type="pres">
      <dgm:prSet presAssocID="{1C4D2F99-C78D-42C7-80A2-5BA0887E17B1}" presName="accent_5" presStyleCnt="0"/>
      <dgm:spPr/>
    </dgm:pt>
    <dgm:pt modelId="{CF67B4C3-0D7A-442A-904D-3057A1EF857C}" type="pres">
      <dgm:prSet presAssocID="{1C4D2F99-C78D-42C7-80A2-5BA0887E17B1}" presName="accentRepeatNode" presStyleLbl="solidFgAcc1" presStyleIdx="4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70C0"/>
          </a:solidFill>
        </a:ln>
      </dgm:spPr>
    </dgm:pt>
  </dgm:ptLst>
  <dgm:cxnLst>
    <dgm:cxn modelId="{26F4FD0D-13F1-4C96-AFDB-F9045F818B91}" srcId="{C2AC300D-E27F-4AFB-8385-23A3F3CA89FC}" destId="{A3FC8B01-A315-423A-B6A8-497CB7537C33}" srcOrd="1" destOrd="0" parTransId="{01F17156-9D30-42C3-9242-5D2919E38418}" sibTransId="{8B0E0B0A-EC01-4520-9C38-DC3440CF1BC2}"/>
    <dgm:cxn modelId="{98A17C1E-2D2E-4A7F-A4DF-C7CE8D52E74D}" srcId="{C2AC300D-E27F-4AFB-8385-23A3F3CA89FC}" destId="{D367BE5C-0F3A-4AB0-9359-B776EBBB96E8}" srcOrd="0" destOrd="0" parTransId="{645097FC-E8BC-4765-BFDE-80FFD33C56D2}" sibTransId="{F18B1F0E-8219-4BFA-A849-7B03740D42DD}"/>
    <dgm:cxn modelId="{38F36D61-D459-4002-B9D7-12C1D9C65DA6}" type="presOf" srcId="{C2AC300D-E27F-4AFB-8385-23A3F3CA89FC}" destId="{24728E11-E867-4651-96BE-D4610DDC76BA}" srcOrd="0" destOrd="0" presId="urn:microsoft.com/office/officeart/2008/layout/VerticalCurvedList"/>
    <dgm:cxn modelId="{08E24E4E-19E6-4CB8-952D-DEAEDD6CB718}" type="presOf" srcId="{A3FC8B01-A315-423A-B6A8-497CB7537C33}" destId="{E88317C7-90A2-4C25-9546-9B945D9DCABC}" srcOrd="0" destOrd="0" presId="urn:microsoft.com/office/officeart/2008/layout/VerticalCurvedList"/>
    <dgm:cxn modelId="{3FADC678-B56B-4D1D-A55C-76B8D9057723}" srcId="{C2AC300D-E27F-4AFB-8385-23A3F3CA89FC}" destId="{1C4D2F99-C78D-42C7-80A2-5BA0887E17B1}" srcOrd="4" destOrd="0" parTransId="{3DF86CA0-27D8-4387-B41B-57787E6E2967}" sibTransId="{68612A85-0C7A-4883-AF07-FA3B62E88B78}"/>
    <dgm:cxn modelId="{3E5C6597-E866-4373-BCD9-93860DF09C5A}" srcId="{C2AC300D-E27F-4AFB-8385-23A3F3CA89FC}" destId="{87B8F9EA-3287-4520-B86C-E8F374AABE44}" srcOrd="3" destOrd="0" parTransId="{D00DD9BB-4E3D-468A-BF58-835F8D176E1A}" sibTransId="{D1DADF7B-4567-4705-8F68-41684E988F76}"/>
    <dgm:cxn modelId="{140382B3-F4C6-47C9-991A-9971D8E5CD39}" type="presOf" srcId="{87B8F9EA-3287-4520-B86C-E8F374AABE44}" destId="{1280C9D9-236B-47CE-A4E9-93A47AF7EF7D}" srcOrd="0" destOrd="0" presId="urn:microsoft.com/office/officeart/2008/layout/VerticalCurvedList"/>
    <dgm:cxn modelId="{BC8180BA-13A3-4B6E-B226-B76BE18092A3}" type="presOf" srcId="{D367BE5C-0F3A-4AB0-9359-B776EBBB96E8}" destId="{C01C0331-627E-4956-B34C-4FEAB8F0B671}" srcOrd="0" destOrd="0" presId="urn:microsoft.com/office/officeart/2008/layout/VerticalCurvedList"/>
    <dgm:cxn modelId="{CB0F28CF-A080-4B7F-8D7E-6BAD74D71D82}" srcId="{C2AC300D-E27F-4AFB-8385-23A3F3CA89FC}" destId="{9B1EDC96-EC6A-483A-BED4-686E83E23071}" srcOrd="2" destOrd="0" parTransId="{9175944A-D53D-4B76-B8CC-0CC9B921C6A5}" sibTransId="{08EBC0C5-1C8B-47AF-B36B-C6F27A4A3E04}"/>
    <dgm:cxn modelId="{848FDBD1-079E-408D-8239-7A733CB5E6E8}" type="presOf" srcId="{F18B1F0E-8219-4BFA-A849-7B03740D42DD}" destId="{B4DAE58B-27CB-4D22-AABF-50F07E30140A}" srcOrd="0" destOrd="0" presId="urn:microsoft.com/office/officeart/2008/layout/VerticalCurvedList"/>
    <dgm:cxn modelId="{F5A402DE-80CF-4EC2-86AA-7BD5D3EB0243}" type="presOf" srcId="{1C4D2F99-C78D-42C7-80A2-5BA0887E17B1}" destId="{02C60EB4-86C6-4D5A-9674-6001E5836B87}" srcOrd="0" destOrd="0" presId="urn:microsoft.com/office/officeart/2008/layout/VerticalCurvedList"/>
    <dgm:cxn modelId="{ACB80CF9-81A4-4C26-865B-795D90854554}" type="presOf" srcId="{9B1EDC96-EC6A-483A-BED4-686E83E23071}" destId="{1FC4862E-0185-4A9A-9A9C-4349F963D0D7}" srcOrd="0" destOrd="0" presId="urn:microsoft.com/office/officeart/2008/layout/VerticalCurvedList"/>
    <dgm:cxn modelId="{619A0C01-A365-4A32-92DF-8E3F12603F95}" type="presParOf" srcId="{24728E11-E867-4651-96BE-D4610DDC76BA}" destId="{59666C2D-0CBC-4177-9492-0BC7B5E83920}" srcOrd="0" destOrd="0" presId="urn:microsoft.com/office/officeart/2008/layout/VerticalCurvedList"/>
    <dgm:cxn modelId="{9437C4A3-37EC-4BE4-AA95-76B8E33061A5}" type="presParOf" srcId="{59666C2D-0CBC-4177-9492-0BC7B5E83920}" destId="{782150D5-7ADF-412A-B97B-C4A85E15F3EF}" srcOrd="0" destOrd="0" presId="urn:microsoft.com/office/officeart/2008/layout/VerticalCurvedList"/>
    <dgm:cxn modelId="{8FA73427-1B94-4BBB-BAEB-5F64AD7F1DCD}" type="presParOf" srcId="{782150D5-7ADF-412A-B97B-C4A85E15F3EF}" destId="{1EBC8B9F-0F17-4377-A441-FE126EC2603D}" srcOrd="0" destOrd="0" presId="urn:microsoft.com/office/officeart/2008/layout/VerticalCurvedList"/>
    <dgm:cxn modelId="{25ADAD80-CCF4-4DC0-8A99-8DC83893A2FB}" type="presParOf" srcId="{782150D5-7ADF-412A-B97B-C4A85E15F3EF}" destId="{B4DAE58B-27CB-4D22-AABF-50F07E30140A}" srcOrd="1" destOrd="0" presId="urn:microsoft.com/office/officeart/2008/layout/VerticalCurvedList"/>
    <dgm:cxn modelId="{12958C5F-073C-4EEC-ADF9-55266F9E77DA}" type="presParOf" srcId="{782150D5-7ADF-412A-B97B-C4A85E15F3EF}" destId="{0CE6508D-66DA-4F48-ABFD-9CEB3707A663}" srcOrd="2" destOrd="0" presId="urn:microsoft.com/office/officeart/2008/layout/VerticalCurvedList"/>
    <dgm:cxn modelId="{27AF1D2C-3FFF-4727-BC81-EFCD9BE6FD59}" type="presParOf" srcId="{782150D5-7ADF-412A-B97B-C4A85E15F3EF}" destId="{2C7897B3-3F08-40FE-87A1-0A1DD86C094E}" srcOrd="3" destOrd="0" presId="urn:microsoft.com/office/officeart/2008/layout/VerticalCurvedList"/>
    <dgm:cxn modelId="{28EB1BE6-F9A7-479B-B8B1-B7AF07E0BD55}" type="presParOf" srcId="{59666C2D-0CBC-4177-9492-0BC7B5E83920}" destId="{C01C0331-627E-4956-B34C-4FEAB8F0B671}" srcOrd="1" destOrd="0" presId="urn:microsoft.com/office/officeart/2008/layout/VerticalCurvedList"/>
    <dgm:cxn modelId="{54EBFE62-19EF-410B-B754-57C780963AB9}" type="presParOf" srcId="{59666C2D-0CBC-4177-9492-0BC7B5E83920}" destId="{2B23576E-7B02-4486-B322-5ADA70C34A33}" srcOrd="2" destOrd="0" presId="urn:microsoft.com/office/officeart/2008/layout/VerticalCurvedList"/>
    <dgm:cxn modelId="{8A2F1BA0-DCBE-4615-89F5-54135CDBF45C}" type="presParOf" srcId="{2B23576E-7B02-4486-B322-5ADA70C34A33}" destId="{47DFED79-DB5B-4E8C-B682-A588521A0C1E}" srcOrd="0" destOrd="0" presId="urn:microsoft.com/office/officeart/2008/layout/VerticalCurvedList"/>
    <dgm:cxn modelId="{77CAD933-8DF2-4DD0-A159-0F31AF4E0C7D}" type="presParOf" srcId="{59666C2D-0CBC-4177-9492-0BC7B5E83920}" destId="{E88317C7-90A2-4C25-9546-9B945D9DCABC}" srcOrd="3" destOrd="0" presId="urn:microsoft.com/office/officeart/2008/layout/VerticalCurvedList"/>
    <dgm:cxn modelId="{BB1DCB31-05D3-4646-9DE7-0D288A98EA6D}" type="presParOf" srcId="{59666C2D-0CBC-4177-9492-0BC7B5E83920}" destId="{BB278096-0873-4494-92E4-06B0E36E6A2E}" srcOrd="4" destOrd="0" presId="urn:microsoft.com/office/officeart/2008/layout/VerticalCurvedList"/>
    <dgm:cxn modelId="{6BE8B628-D90C-458D-B12D-31394C556B46}" type="presParOf" srcId="{BB278096-0873-4494-92E4-06B0E36E6A2E}" destId="{E429469F-E2C2-4595-B7EA-348F95B2056B}" srcOrd="0" destOrd="0" presId="urn:microsoft.com/office/officeart/2008/layout/VerticalCurvedList"/>
    <dgm:cxn modelId="{ED728404-1B5F-492A-86CD-22C7C84A21BE}" type="presParOf" srcId="{59666C2D-0CBC-4177-9492-0BC7B5E83920}" destId="{1FC4862E-0185-4A9A-9A9C-4349F963D0D7}" srcOrd="5" destOrd="0" presId="urn:microsoft.com/office/officeart/2008/layout/VerticalCurvedList"/>
    <dgm:cxn modelId="{9B6C424B-F1D6-4313-8EDF-D7E62BA96E6F}" type="presParOf" srcId="{59666C2D-0CBC-4177-9492-0BC7B5E83920}" destId="{52B3BEB8-2395-4D79-985B-307706CB31ED}" srcOrd="6" destOrd="0" presId="urn:microsoft.com/office/officeart/2008/layout/VerticalCurvedList"/>
    <dgm:cxn modelId="{0CF87676-6EFC-46DC-A699-0EEC201CB04F}" type="presParOf" srcId="{52B3BEB8-2395-4D79-985B-307706CB31ED}" destId="{D57AE131-E6FE-4A12-A1A0-43665D1C7D63}" srcOrd="0" destOrd="0" presId="urn:microsoft.com/office/officeart/2008/layout/VerticalCurvedList"/>
    <dgm:cxn modelId="{7738CA3E-9140-4697-87D1-1F043EEC3BC0}" type="presParOf" srcId="{59666C2D-0CBC-4177-9492-0BC7B5E83920}" destId="{1280C9D9-236B-47CE-A4E9-93A47AF7EF7D}" srcOrd="7" destOrd="0" presId="urn:microsoft.com/office/officeart/2008/layout/VerticalCurvedList"/>
    <dgm:cxn modelId="{0A0CC41E-A561-4FF8-A121-DE42C0359915}" type="presParOf" srcId="{59666C2D-0CBC-4177-9492-0BC7B5E83920}" destId="{E8559CA7-49B0-4F7D-A767-E64EB4EDB3E7}" srcOrd="8" destOrd="0" presId="urn:microsoft.com/office/officeart/2008/layout/VerticalCurvedList"/>
    <dgm:cxn modelId="{CE6C73FE-BFDF-4732-A235-9B863D135D2B}" type="presParOf" srcId="{E8559CA7-49B0-4F7D-A767-E64EB4EDB3E7}" destId="{9553D612-A85C-486E-B461-6A4C76F01CF5}" srcOrd="0" destOrd="0" presId="urn:microsoft.com/office/officeart/2008/layout/VerticalCurvedList"/>
    <dgm:cxn modelId="{334361DE-EAA4-4F2D-9468-DC924B80DB97}" type="presParOf" srcId="{59666C2D-0CBC-4177-9492-0BC7B5E83920}" destId="{02C60EB4-86C6-4D5A-9674-6001E5836B87}" srcOrd="9" destOrd="0" presId="urn:microsoft.com/office/officeart/2008/layout/VerticalCurvedList"/>
    <dgm:cxn modelId="{5EC84675-FB32-46AB-87E4-5D498CBD3032}" type="presParOf" srcId="{59666C2D-0CBC-4177-9492-0BC7B5E83920}" destId="{34851621-2954-4C63-AF8F-290194193FB3}" srcOrd="10" destOrd="0" presId="urn:microsoft.com/office/officeart/2008/layout/VerticalCurvedList"/>
    <dgm:cxn modelId="{280FA445-1C23-4817-A9CA-0C40298D67FF}" type="presParOf" srcId="{34851621-2954-4C63-AF8F-290194193FB3}" destId="{CF67B4C3-0D7A-442A-904D-3057A1EF857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AC300D-E27F-4AFB-8385-23A3F3CA89FC}" type="doc">
      <dgm:prSet loTypeId="urn:microsoft.com/office/officeart/2008/layout/VerticalCurvedList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D367BE5C-0F3A-4AB0-9359-B776EBBB96E8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b="0" dirty="0">
              <a:latin typeface="Calibri" panose="020F0502020204030204" pitchFamily="34" charset="0"/>
              <a:cs typeface="Calibri" panose="020F0502020204030204" pitchFamily="34" charset="0"/>
            </a:rPr>
            <a:t>       Vectorization</a:t>
          </a:r>
        </a:p>
      </dgm:t>
    </dgm:pt>
    <dgm:pt modelId="{645097FC-E8BC-4765-BFDE-80FFD33C56D2}" type="parTrans" cxnId="{98A17C1E-2D2E-4A7F-A4DF-C7CE8D52E74D}">
      <dgm:prSet/>
      <dgm:spPr/>
      <dgm:t>
        <a:bodyPr/>
        <a:lstStyle/>
        <a:p>
          <a:endParaRPr lang="en-IN"/>
        </a:p>
      </dgm:t>
    </dgm:pt>
    <dgm:pt modelId="{F18B1F0E-8219-4BFA-A849-7B03740D42DD}" type="sibTrans" cxnId="{98A17C1E-2D2E-4A7F-A4DF-C7CE8D52E74D}">
      <dgm:prSet/>
      <dgm:spPr/>
      <dgm:t>
        <a:bodyPr/>
        <a:lstStyle/>
        <a:p>
          <a:endParaRPr lang="en-IN"/>
        </a:p>
      </dgm:t>
    </dgm:pt>
    <dgm:pt modelId="{9B1EDC96-EC6A-483A-BED4-686E83E23071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noFill/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Deeper understanding of w2v</a:t>
          </a:r>
        </a:p>
      </dgm:t>
    </dgm:pt>
    <dgm:pt modelId="{9175944A-D53D-4B76-B8CC-0CC9B921C6A5}" type="parTrans" cxnId="{CB0F28CF-A080-4B7F-8D7E-6BAD74D71D82}">
      <dgm:prSet/>
      <dgm:spPr/>
      <dgm:t>
        <a:bodyPr/>
        <a:lstStyle/>
        <a:p>
          <a:endParaRPr lang="en-IN"/>
        </a:p>
      </dgm:t>
    </dgm:pt>
    <dgm:pt modelId="{08EBC0C5-1C8B-47AF-B36B-C6F27A4A3E04}" type="sibTrans" cxnId="{CB0F28CF-A080-4B7F-8D7E-6BAD74D71D82}">
      <dgm:prSet/>
      <dgm:spPr/>
      <dgm:t>
        <a:bodyPr/>
        <a:lstStyle/>
        <a:p>
          <a:endParaRPr lang="en-IN"/>
        </a:p>
      </dgm:t>
    </dgm:pt>
    <dgm:pt modelId="{A3FC8B01-A315-423A-B6A8-497CB7537C33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rgbClr val="00B0F0"/>
        </a:solidFill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Basic w2v function &amp; Similarity using w2v</a:t>
          </a:r>
        </a:p>
      </dgm:t>
    </dgm:pt>
    <dgm:pt modelId="{8B0E0B0A-EC01-4520-9C38-DC3440CF1BC2}" type="sibTrans" cxnId="{26F4FD0D-13F1-4C96-AFDB-F9045F818B91}">
      <dgm:prSet/>
      <dgm:spPr/>
      <dgm:t>
        <a:bodyPr/>
        <a:lstStyle/>
        <a:p>
          <a:endParaRPr lang="en-IN"/>
        </a:p>
      </dgm:t>
    </dgm:pt>
    <dgm:pt modelId="{01F17156-9D30-42C3-9242-5D2919E38418}" type="parTrans" cxnId="{26F4FD0D-13F1-4C96-AFDB-F9045F818B91}">
      <dgm:prSet/>
      <dgm:spPr/>
      <dgm:t>
        <a:bodyPr/>
        <a:lstStyle/>
        <a:p>
          <a:endParaRPr lang="en-IN"/>
        </a:p>
      </dgm:t>
    </dgm:pt>
    <dgm:pt modelId="{87B8F9EA-3287-4520-B86C-E8F374AABE44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Word2vec properties in </a:t>
          </a:r>
          <a:r>
            <a:rPr lang="en-IN" sz="1600" dirty="0" err="1">
              <a:latin typeface="Calibri" panose="020F0502020204030204" pitchFamily="34" charset="0"/>
              <a:cs typeface="Calibri" panose="020F0502020204030204" pitchFamily="34" charset="0"/>
            </a:rPr>
            <a:t>spaCy</a:t>
          </a:r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</a:p>
      </dgm:t>
    </dgm:pt>
    <dgm:pt modelId="{D00DD9BB-4E3D-468A-BF58-835F8D176E1A}" type="parTrans" cxnId="{3E5C6597-E866-4373-BCD9-93860DF09C5A}">
      <dgm:prSet/>
      <dgm:spPr/>
      <dgm:t>
        <a:bodyPr/>
        <a:lstStyle/>
        <a:p>
          <a:endParaRPr lang="en-US"/>
        </a:p>
      </dgm:t>
    </dgm:pt>
    <dgm:pt modelId="{D1DADF7B-4567-4705-8F68-41684E988F76}" type="sibTrans" cxnId="{3E5C6597-E866-4373-BCD9-93860DF09C5A}">
      <dgm:prSet/>
      <dgm:spPr/>
      <dgm:t>
        <a:bodyPr/>
        <a:lstStyle/>
        <a:p>
          <a:endParaRPr lang="en-US"/>
        </a:p>
      </dgm:t>
    </dgm:pt>
    <dgm:pt modelId="{1C4D2F99-C78D-42C7-80A2-5BA0887E17B1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800" dirty="0">
              <a:latin typeface="Calibri" panose="020F0502020204030204" pitchFamily="34" charset="0"/>
              <a:cs typeface="Calibri" panose="020F0502020204030204" pitchFamily="34" charset="0"/>
            </a:rPr>
            <a:t>Case study</a:t>
          </a:r>
        </a:p>
      </dgm:t>
    </dgm:pt>
    <dgm:pt modelId="{3DF86CA0-27D8-4387-B41B-57787E6E2967}" type="parTrans" cxnId="{3FADC678-B56B-4D1D-A55C-76B8D9057723}">
      <dgm:prSet/>
      <dgm:spPr/>
      <dgm:t>
        <a:bodyPr/>
        <a:lstStyle/>
        <a:p>
          <a:endParaRPr lang="en-US"/>
        </a:p>
      </dgm:t>
    </dgm:pt>
    <dgm:pt modelId="{68612A85-0C7A-4883-AF07-FA3B62E88B78}" type="sibTrans" cxnId="{3FADC678-B56B-4D1D-A55C-76B8D9057723}">
      <dgm:prSet/>
      <dgm:spPr/>
      <dgm:t>
        <a:bodyPr/>
        <a:lstStyle/>
        <a:p>
          <a:endParaRPr lang="en-US"/>
        </a:p>
      </dgm:t>
    </dgm:pt>
    <dgm:pt modelId="{24728E11-E867-4651-96BE-D4610DDC76BA}" type="pres">
      <dgm:prSet presAssocID="{C2AC300D-E27F-4AFB-8385-23A3F3CA89FC}" presName="Name0" presStyleCnt="0">
        <dgm:presLayoutVars>
          <dgm:chMax val="7"/>
          <dgm:chPref val="7"/>
          <dgm:dir/>
        </dgm:presLayoutVars>
      </dgm:prSet>
      <dgm:spPr/>
    </dgm:pt>
    <dgm:pt modelId="{59666C2D-0CBC-4177-9492-0BC7B5E83920}" type="pres">
      <dgm:prSet presAssocID="{C2AC300D-E27F-4AFB-8385-23A3F3CA89FC}" presName="Name1" presStyleCnt="0"/>
      <dgm:spPr/>
    </dgm:pt>
    <dgm:pt modelId="{782150D5-7ADF-412A-B97B-C4A85E15F3EF}" type="pres">
      <dgm:prSet presAssocID="{C2AC300D-E27F-4AFB-8385-23A3F3CA89FC}" presName="cycle" presStyleCnt="0"/>
      <dgm:spPr/>
    </dgm:pt>
    <dgm:pt modelId="{1EBC8B9F-0F17-4377-A441-FE126EC2603D}" type="pres">
      <dgm:prSet presAssocID="{C2AC300D-E27F-4AFB-8385-23A3F3CA89FC}" presName="srcNode" presStyleLbl="node1" presStyleIdx="0" presStyleCnt="5"/>
      <dgm:spPr/>
    </dgm:pt>
    <dgm:pt modelId="{B4DAE58B-27CB-4D22-AABF-50F07E30140A}" type="pres">
      <dgm:prSet presAssocID="{C2AC300D-E27F-4AFB-8385-23A3F3CA89FC}" presName="conn" presStyleLbl="parChTrans1D2" presStyleIdx="0" presStyleCnt="1" custLinFactNeighborX="-42817" custLinFactNeighborY="-1118"/>
      <dgm:spPr/>
    </dgm:pt>
    <dgm:pt modelId="{0CE6508D-66DA-4F48-ABFD-9CEB3707A663}" type="pres">
      <dgm:prSet presAssocID="{C2AC300D-E27F-4AFB-8385-23A3F3CA89FC}" presName="extraNode" presStyleLbl="node1" presStyleIdx="0" presStyleCnt="5"/>
      <dgm:spPr/>
    </dgm:pt>
    <dgm:pt modelId="{2C7897B3-3F08-40FE-87A1-0A1DD86C094E}" type="pres">
      <dgm:prSet presAssocID="{C2AC300D-E27F-4AFB-8385-23A3F3CA89FC}" presName="dstNode" presStyleLbl="node1" presStyleIdx="0" presStyleCnt="5"/>
      <dgm:spPr/>
    </dgm:pt>
    <dgm:pt modelId="{C01C0331-627E-4956-B34C-4FEAB8F0B671}" type="pres">
      <dgm:prSet presAssocID="{D367BE5C-0F3A-4AB0-9359-B776EBBB96E8}" presName="text_1" presStyleLbl="node1" presStyleIdx="0" presStyleCnt="5" custScaleX="104705" custScaleY="110627">
        <dgm:presLayoutVars>
          <dgm:bulletEnabled val="1"/>
        </dgm:presLayoutVars>
      </dgm:prSet>
      <dgm:spPr/>
    </dgm:pt>
    <dgm:pt modelId="{2B23576E-7B02-4486-B322-5ADA70C34A33}" type="pres">
      <dgm:prSet presAssocID="{D367BE5C-0F3A-4AB0-9359-B776EBBB96E8}" presName="accent_1" presStyleCnt="0"/>
      <dgm:spPr/>
    </dgm:pt>
    <dgm:pt modelId="{47DFED79-DB5B-4E8C-B682-A588521A0C1E}" type="pres">
      <dgm:prSet presAssocID="{D367BE5C-0F3A-4AB0-9359-B776EBBB96E8}" presName="accentRepeatNode" presStyleLbl="solidFgAcc1" presStyleIdx="0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</dgm:pt>
    <dgm:pt modelId="{E88317C7-90A2-4C25-9546-9B945D9DCABC}" type="pres">
      <dgm:prSet presAssocID="{A3FC8B01-A315-423A-B6A8-497CB7537C33}" presName="text_2" presStyleLbl="node1" presStyleIdx="1" presStyleCnt="5" custLinFactNeighborX="9114" custLinFactNeighborY="5530">
        <dgm:presLayoutVars>
          <dgm:bulletEnabled val="1"/>
        </dgm:presLayoutVars>
      </dgm:prSet>
      <dgm:spPr/>
    </dgm:pt>
    <dgm:pt modelId="{BB278096-0873-4494-92E4-06B0E36E6A2E}" type="pres">
      <dgm:prSet presAssocID="{A3FC8B01-A315-423A-B6A8-497CB7537C33}" presName="accent_2" presStyleCnt="0"/>
      <dgm:spPr/>
    </dgm:pt>
    <dgm:pt modelId="{E429469F-E2C2-4595-B7EA-348F95B2056B}" type="pres">
      <dgm:prSet presAssocID="{A3FC8B01-A315-423A-B6A8-497CB7537C33}" presName="accentRepeatNode" presStyleLbl="solidFgAcc1" presStyleIdx="1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rgbClr val="00B0F0"/>
        </a:solidFill>
        <a:ln>
          <a:solidFill>
            <a:schemeClr val="bg1"/>
          </a:solidFill>
        </a:ln>
      </dgm:spPr>
    </dgm:pt>
    <dgm:pt modelId="{1FC4862E-0185-4A9A-9A9C-4349F963D0D7}" type="pres">
      <dgm:prSet presAssocID="{9B1EDC96-EC6A-483A-BED4-686E83E23071}" presName="text_3" presStyleLbl="node1" presStyleIdx="2" presStyleCnt="5" custScaleX="106537">
        <dgm:presLayoutVars>
          <dgm:bulletEnabled val="1"/>
        </dgm:presLayoutVars>
      </dgm:prSet>
      <dgm:spPr/>
    </dgm:pt>
    <dgm:pt modelId="{52B3BEB8-2395-4D79-985B-307706CB31ED}" type="pres">
      <dgm:prSet presAssocID="{9B1EDC96-EC6A-483A-BED4-686E83E23071}" presName="accent_3" presStyleCnt="0"/>
      <dgm:spPr/>
    </dgm:pt>
    <dgm:pt modelId="{D57AE131-E6FE-4A12-A1A0-43665D1C7D63}" type="pres">
      <dgm:prSet presAssocID="{9B1EDC96-EC6A-483A-BED4-686E83E23071}" presName="accentRepeatNode" presStyleLbl="solidFgAcc1" presStyleIdx="2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</dgm:pt>
    <dgm:pt modelId="{1280C9D9-236B-47CE-A4E9-93A47AF7EF7D}" type="pres">
      <dgm:prSet presAssocID="{87B8F9EA-3287-4520-B86C-E8F374AABE44}" presName="text_4" presStyleLbl="node1" presStyleIdx="3" presStyleCnt="5" custScaleX="106826">
        <dgm:presLayoutVars>
          <dgm:bulletEnabled val="1"/>
        </dgm:presLayoutVars>
      </dgm:prSet>
      <dgm:spPr/>
    </dgm:pt>
    <dgm:pt modelId="{E8559CA7-49B0-4F7D-A767-E64EB4EDB3E7}" type="pres">
      <dgm:prSet presAssocID="{87B8F9EA-3287-4520-B86C-E8F374AABE44}" presName="accent_4" presStyleCnt="0"/>
      <dgm:spPr/>
    </dgm:pt>
    <dgm:pt modelId="{9553D612-A85C-486E-B461-6A4C76F01CF5}" type="pres">
      <dgm:prSet presAssocID="{87B8F9EA-3287-4520-B86C-E8F374AABE44}" presName="accentRepeatNode" presStyleLbl="solidFgAcc1" presStyleIdx="3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70C0"/>
          </a:solidFill>
        </a:ln>
      </dgm:spPr>
    </dgm:pt>
    <dgm:pt modelId="{02C60EB4-86C6-4D5A-9674-6001E5836B87}" type="pres">
      <dgm:prSet presAssocID="{1C4D2F99-C78D-42C7-80A2-5BA0887E17B1}" presName="text_5" presStyleLbl="node1" presStyleIdx="4" presStyleCnt="5" custScaleX="106347">
        <dgm:presLayoutVars>
          <dgm:bulletEnabled val="1"/>
        </dgm:presLayoutVars>
      </dgm:prSet>
      <dgm:spPr/>
    </dgm:pt>
    <dgm:pt modelId="{34851621-2954-4C63-AF8F-290194193FB3}" type="pres">
      <dgm:prSet presAssocID="{1C4D2F99-C78D-42C7-80A2-5BA0887E17B1}" presName="accent_5" presStyleCnt="0"/>
      <dgm:spPr/>
    </dgm:pt>
    <dgm:pt modelId="{CF67B4C3-0D7A-442A-904D-3057A1EF857C}" type="pres">
      <dgm:prSet presAssocID="{1C4D2F99-C78D-42C7-80A2-5BA0887E17B1}" presName="accentRepeatNode" presStyleLbl="solidFgAcc1" presStyleIdx="4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70C0"/>
          </a:solidFill>
        </a:ln>
      </dgm:spPr>
    </dgm:pt>
  </dgm:ptLst>
  <dgm:cxnLst>
    <dgm:cxn modelId="{26F4FD0D-13F1-4C96-AFDB-F9045F818B91}" srcId="{C2AC300D-E27F-4AFB-8385-23A3F3CA89FC}" destId="{A3FC8B01-A315-423A-B6A8-497CB7537C33}" srcOrd="1" destOrd="0" parTransId="{01F17156-9D30-42C3-9242-5D2919E38418}" sibTransId="{8B0E0B0A-EC01-4520-9C38-DC3440CF1BC2}"/>
    <dgm:cxn modelId="{98A17C1E-2D2E-4A7F-A4DF-C7CE8D52E74D}" srcId="{C2AC300D-E27F-4AFB-8385-23A3F3CA89FC}" destId="{D367BE5C-0F3A-4AB0-9359-B776EBBB96E8}" srcOrd="0" destOrd="0" parTransId="{645097FC-E8BC-4765-BFDE-80FFD33C56D2}" sibTransId="{F18B1F0E-8219-4BFA-A849-7B03740D42DD}"/>
    <dgm:cxn modelId="{38F36D61-D459-4002-B9D7-12C1D9C65DA6}" type="presOf" srcId="{C2AC300D-E27F-4AFB-8385-23A3F3CA89FC}" destId="{24728E11-E867-4651-96BE-D4610DDC76BA}" srcOrd="0" destOrd="0" presId="urn:microsoft.com/office/officeart/2008/layout/VerticalCurvedList"/>
    <dgm:cxn modelId="{08E24E4E-19E6-4CB8-952D-DEAEDD6CB718}" type="presOf" srcId="{A3FC8B01-A315-423A-B6A8-497CB7537C33}" destId="{E88317C7-90A2-4C25-9546-9B945D9DCABC}" srcOrd="0" destOrd="0" presId="urn:microsoft.com/office/officeart/2008/layout/VerticalCurvedList"/>
    <dgm:cxn modelId="{3FADC678-B56B-4D1D-A55C-76B8D9057723}" srcId="{C2AC300D-E27F-4AFB-8385-23A3F3CA89FC}" destId="{1C4D2F99-C78D-42C7-80A2-5BA0887E17B1}" srcOrd="4" destOrd="0" parTransId="{3DF86CA0-27D8-4387-B41B-57787E6E2967}" sibTransId="{68612A85-0C7A-4883-AF07-FA3B62E88B78}"/>
    <dgm:cxn modelId="{3E5C6597-E866-4373-BCD9-93860DF09C5A}" srcId="{C2AC300D-E27F-4AFB-8385-23A3F3CA89FC}" destId="{87B8F9EA-3287-4520-B86C-E8F374AABE44}" srcOrd="3" destOrd="0" parTransId="{D00DD9BB-4E3D-468A-BF58-835F8D176E1A}" sibTransId="{D1DADF7B-4567-4705-8F68-41684E988F76}"/>
    <dgm:cxn modelId="{140382B3-F4C6-47C9-991A-9971D8E5CD39}" type="presOf" srcId="{87B8F9EA-3287-4520-B86C-E8F374AABE44}" destId="{1280C9D9-236B-47CE-A4E9-93A47AF7EF7D}" srcOrd="0" destOrd="0" presId="urn:microsoft.com/office/officeart/2008/layout/VerticalCurvedList"/>
    <dgm:cxn modelId="{BC8180BA-13A3-4B6E-B226-B76BE18092A3}" type="presOf" srcId="{D367BE5C-0F3A-4AB0-9359-B776EBBB96E8}" destId="{C01C0331-627E-4956-B34C-4FEAB8F0B671}" srcOrd="0" destOrd="0" presId="urn:microsoft.com/office/officeart/2008/layout/VerticalCurvedList"/>
    <dgm:cxn modelId="{CB0F28CF-A080-4B7F-8D7E-6BAD74D71D82}" srcId="{C2AC300D-E27F-4AFB-8385-23A3F3CA89FC}" destId="{9B1EDC96-EC6A-483A-BED4-686E83E23071}" srcOrd="2" destOrd="0" parTransId="{9175944A-D53D-4B76-B8CC-0CC9B921C6A5}" sibTransId="{08EBC0C5-1C8B-47AF-B36B-C6F27A4A3E04}"/>
    <dgm:cxn modelId="{848FDBD1-079E-408D-8239-7A733CB5E6E8}" type="presOf" srcId="{F18B1F0E-8219-4BFA-A849-7B03740D42DD}" destId="{B4DAE58B-27CB-4D22-AABF-50F07E30140A}" srcOrd="0" destOrd="0" presId="urn:microsoft.com/office/officeart/2008/layout/VerticalCurvedList"/>
    <dgm:cxn modelId="{F5A402DE-80CF-4EC2-86AA-7BD5D3EB0243}" type="presOf" srcId="{1C4D2F99-C78D-42C7-80A2-5BA0887E17B1}" destId="{02C60EB4-86C6-4D5A-9674-6001E5836B87}" srcOrd="0" destOrd="0" presId="urn:microsoft.com/office/officeart/2008/layout/VerticalCurvedList"/>
    <dgm:cxn modelId="{ACB80CF9-81A4-4C26-865B-795D90854554}" type="presOf" srcId="{9B1EDC96-EC6A-483A-BED4-686E83E23071}" destId="{1FC4862E-0185-4A9A-9A9C-4349F963D0D7}" srcOrd="0" destOrd="0" presId="urn:microsoft.com/office/officeart/2008/layout/VerticalCurvedList"/>
    <dgm:cxn modelId="{619A0C01-A365-4A32-92DF-8E3F12603F95}" type="presParOf" srcId="{24728E11-E867-4651-96BE-D4610DDC76BA}" destId="{59666C2D-0CBC-4177-9492-0BC7B5E83920}" srcOrd="0" destOrd="0" presId="urn:microsoft.com/office/officeart/2008/layout/VerticalCurvedList"/>
    <dgm:cxn modelId="{9437C4A3-37EC-4BE4-AA95-76B8E33061A5}" type="presParOf" srcId="{59666C2D-0CBC-4177-9492-0BC7B5E83920}" destId="{782150D5-7ADF-412A-B97B-C4A85E15F3EF}" srcOrd="0" destOrd="0" presId="urn:microsoft.com/office/officeart/2008/layout/VerticalCurvedList"/>
    <dgm:cxn modelId="{8FA73427-1B94-4BBB-BAEB-5F64AD7F1DCD}" type="presParOf" srcId="{782150D5-7ADF-412A-B97B-C4A85E15F3EF}" destId="{1EBC8B9F-0F17-4377-A441-FE126EC2603D}" srcOrd="0" destOrd="0" presId="urn:microsoft.com/office/officeart/2008/layout/VerticalCurvedList"/>
    <dgm:cxn modelId="{25ADAD80-CCF4-4DC0-8A99-8DC83893A2FB}" type="presParOf" srcId="{782150D5-7ADF-412A-B97B-C4A85E15F3EF}" destId="{B4DAE58B-27CB-4D22-AABF-50F07E30140A}" srcOrd="1" destOrd="0" presId="urn:microsoft.com/office/officeart/2008/layout/VerticalCurvedList"/>
    <dgm:cxn modelId="{12958C5F-073C-4EEC-ADF9-55266F9E77DA}" type="presParOf" srcId="{782150D5-7ADF-412A-B97B-C4A85E15F3EF}" destId="{0CE6508D-66DA-4F48-ABFD-9CEB3707A663}" srcOrd="2" destOrd="0" presId="urn:microsoft.com/office/officeart/2008/layout/VerticalCurvedList"/>
    <dgm:cxn modelId="{27AF1D2C-3FFF-4727-BC81-EFCD9BE6FD59}" type="presParOf" srcId="{782150D5-7ADF-412A-B97B-C4A85E15F3EF}" destId="{2C7897B3-3F08-40FE-87A1-0A1DD86C094E}" srcOrd="3" destOrd="0" presId="urn:microsoft.com/office/officeart/2008/layout/VerticalCurvedList"/>
    <dgm:cxn modelId="{28EB1BE6-F9A7-479B-B8B1-B7AF07E0BD55}" type="presParOf" srcId="{59666C2D-0CBC-4177-9492-0BC7B5E83920}" destId="{C01C0331-627E-4956-B34C-4FEAB8F0B671}" srcOrd="1" destOrd="0" presId="urn:microsoft.com/office/officeart/2008/layout/VerticalCurvedList"/>
    <dgm:cxn modelId="{54EBFE62-19EF-410B-B754-57C780963AB9}" type="presParOf" srcId="{59666C2D-0CBC-4177-9492-0BC7B5E83920}" destId="{2B23576E-7B02-4486-B322-5ADA70C34A33}" srcOrd="2" destOrd="0" presId="urn:microsoft.com/office/officeart/2008/layout/VerticalCurvedList"/>
    <dgm:cxn modelId="{8A2F1BA0-DCBE-4615-89F5-54135CDBF45C}" type="presParOf" srcId="{2B23576E-7B02-4486-B322-5ADA70C34A33}" destId="{47DFED79-DB5B-4E8C-B682-A588521A0C1E}" srcOrd="0" destOrd="0" presId="urn:microsoft.com/office/officeart/2008/layout/VerticalCurvedList"/>
    <dgm:cxn modelId="{77CAD933-8DF2-4DD0-A159-0F31AF4E0C7D}" type="presParOf" srcId="{59666C2D-0CBC-4177-9492-0BC7B5E83920}" destId="{E88317C7-90A2-4C25-9546-9B945D9DCABC}" srcOrd="3" destOrd="0" presId="urn:microsoft.com/office/officeart/2008/layout/VerticalCurvedList"/>
    <dgm:cxn modelId="{BB1DCB31-05D3-4646-9DE7-0D288A98EA6D}" type="presParOf" srcId="{59666C2D-0CBC-4177-9492-0BC7B5E83920}" destId="{BB278096-0873-4494-92E4-06B0E36E6A2E}" srcOrd="4" destOrd="0" presId="urn:microsoft.com/office/officeart/2008/layout/VerticalCurvedList"/>
    <dgm:cxn modelId="{6BE8B628-D90C-458D-B12D-31394C556B46}" type="presParOf" srcId="{BB278096-0873-4494-92E4-06B0E36E6A2E}" destId="{E429469F-E2C2-4595-B7EA-348F95B2056B}" srcOrd="0" destOrd="0" presId="urn:microsoft.com/office/officeart/2008/layout/VerticalCurvedList"/>
    <dgm:cxn modelId="{ED728404-1B5F-492A-86CD-22C7C84A21BE}" type="presParOf" srcId="{59666C2D-0CBC-4177-9492-0BC7B5E83920}" destId="{1FC4862E-0185-4A9A-9A9C-4349F963D0D7}" srcOrd="5" destOrd="0" presId="urn:microsoft.com/office/officeart/2008/layout/VerticalCurvedList"/>
    <dgm:cxn modelId="{9B6C424B-F1D6-4313-8EDF-D7E62BA96E6F}" type="presParOf" srcId="{59666C2D-0CBC-4177-9492-0BC7B5E83920}" destId="{52B3BEB8-2395-4D79-985B-307706CB31ED}" srcOrd="6" destOrd="0" presId="urn:microsoft.com/office/officeart/2008/layout/VerticalCurvedList"/>
    <dgm:cxn modelId="{0CF87676-6EFC-46DC-A699-0EEC201CB04F}" type="presParOf" srcId="{52B3BEB8-2395-4D79-985B-307706CB31ED}" destId="{D57AE131-E6FE-4A12-A1A0-43665D1C7D63}" srcOrd="0" destOrd="0" presId="urn:microsoft.com/office/officeart/2008/layout/VerticalCurvedList"/>
    <dgm:cxn modelId="{7738CA3E-9140-4697-87D1-1F043EEC3BC0}" type="presParOf" srcId="{59666C2D-0CBC-4177-9492-0BC7B5E83920}" destId="{1280C9D9-236B-47CE-A4E9-93A47AF7EF7D}" srcOrd="7" destOrd="0" presId="urn:microsoft.com/office/officeart/2008/layout/VerticalCurvedList"/>
    <dgm:cxn modelId="{0A0CC41E-A561-4FF8-A121-DE42C0359915}" type="presParOf" srcId="{59666C2D-0CBC-4177-9492-0BC7B5E83920}" destId="{E8559CA7-49B0-4F7D-A767-E64EB4EDB3E7}" srcOrd="8" destOrd="0" presId="urn:microsoft.com/office/officeart/2008/layout/VerticalCurvedList"/>
    <dgm:cxn modelId="{CE6C73FE-BFDF-4732-A235-9B863D135D2B}" type="presParOf" srcId="{E8559CA7-49B0-4F7D-A767-E64EB4EDB3E7}" destId="{9553D612-A85C-486E-B461-6A4C76F01CF5}" srcOrd="0" destOrd="0" presId="urn:microsoft.com/office/officeart/2008/layout/VerticalCurvedList"/>
    <dgm:cxn modelId="{334361DE-EAA4-4F2D-9468-DC924B80DB97}" type="presParOf" srcId="{59666C2D-0CBC-4177-9492-0BC7B5E83920}" destId="{02C60EB4-86C6-4D5A-9674-6001E5836B87}" srcOrd="9" destOrd="0" presId="urn:microsoft.com/office/officeart/2008/layout/VerticalCurvedList"/>
    <dgm:cxn modelId="{5EC84675-FB32-46AB-87E4-5D498CBD3032}" type="presParOf" srcId="{59666C2D-0CBC-4177-9492-0BC7B5E83920}" destId="{34851621-2954-4C63-AF8F-290194193FB3}" srcOrd="10" destOrd="0" presId="urn:microsoft.com/office/officeart/2008/layout/VerticalCurvedList"/>
    <dgm:cxn modelId="{280FA445-1C23-4817-A9CA-0C40298D67FF}" type="presParOf" srcId="{34851621-2954-4C63-AF8F-290194193FB3}" destId="{CF67B4C3-0D7A-442A-904D-3057A1EF857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AC300D-E27F-4AFB-8385-23A3F3CA89FC}" type="doc">
      <dgm:prSet loTypeId="urn:microsoft.com/office/officeart/2008/layout/VerticalCurvedList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D367BE5C-0F3A-4AB0-9359-B776EBBB96E8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b="0" dirty="0">
              <a:latin typeface="Calibri" panose="020F0502020204030204" pitchFamily="34" charset="0"/>
              <a:cs typeface="Calibri" panose="020F0502020204030204" pitchFamily="34" charset="0"/>
            </a:rPr>
            <a:t>       Vectorization</a:t>
          </a:r>
        </a:p>
      </dgm:t>
    </dgm:pt>
    <dgm:pt modelId="{645097FC-E8BC-4765-BFDE-80FFD33C56D2}" type="parTrans" cxnId="{98A17C1E-2D2E-4A7F-A4DF-C7CE8D52E74D}">
      <dgm:prSet/>
      <dgm:spPr/>
      <dgm:t>
        <a:bodyPr/>
        <a:lstStyle/>
        <a:p>
          <a:endParaRPr lang="en-IN"/>
        </a:p>
      </dgm:t>
    </dgm:pt>
    <dgm:pt modelId="{F18B1F0E-8219-4BFA-A849-7B03740D42DD}" type="sibTrans" cxnId="{98A17C1E-2D2E-4A7F-A4DF-C7CE8D52E74D}">
      <dgm:prSet/>
      <dgm:spPr/>
      <dgm:t>
        <a:bodyPr/>
        <a:lstStyle/>
        <a:p>
          <a:endParaRPr lang="en-IN"/>
        </a:p>
      </dgm:t>
    </dgm:pt>
    <dgm:pt modelId="{9B1EDC96-EC6A-483A-BED4-686E83E23071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rgbClr val="00B0F0"/>
        </a:solidFill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    Deeper understanding of w2v</a:t>
          </a:r>
        </a:p>
      </dgm:t>
    </dgm:pt>
    <dgm:pt modelId="{9175944A-D53D-4B76-B8CC-0CC9B921C6A5}" type="parTrans" cxnId="{CB0F28CF-A080-4B7F-8D7E-6BAD74D71D82}">
      <dgm:prSet/>
      <dgm:spPr/>
      <dgm:t>
        <a:bodyPr/>
        <a:lstStyle/>
        <a:p>
          <a:endParaRPr lang="en-IN"/>
        </a:p>
      </dgm:t>
    </dgm:pt>
    <dgm:pt modelId="{08EBC0C5-1C8B-47AF-B36B-C6F27A4A3E04}" type="sibTrans" cxnId="{CB0F28CF-A080-4B7F-8D7E-6BAD74D71D82}">
      <dgm:prSet/>
      <dgm:spPr/>
      <dgm:t>
        <a:bodyPr/>
        <a:lstStyle/>
        <a:p>
          <a:endParaRPr lang="en-IN"/>
        </a:p>
      </dgm:t>
    </dgm:pt>
    <dgm:pt modelId="{A3FC8B01-A315-423A-B6A8-497CB7537C33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Basic w2v function &amp; Similarity using w2v</a:t>
          </a:r>
        </a:p>
      </dgm:t>
    </dgm:pt>
    <dgm:pt modelId="{8B0E0B0A-EC01-4520-9C38-DC3440CF1BC2}" type="sibTrans" cxnId="{26F4FD0D-13F1-4C96-AFDB-F9045F818B91}">
      <dgm:prSet/>
      <dgm:spPr/>
      <dgm:t>
        <a:bodyPr/>
        <a:lstStyle/>
        <a:p>
          <a:endParaRPr lang="en-IN"/>
        </a:p>
      </dgm:t>
    </dgm:pt>
    <dgm:pt modelId="{01F17156-9D30-42C3-9242-5D2919E38418}" type="parTrans" cxnId="{26F4FD0D-13F1-4C96-AFDB-F9045F818B91}">
      <dgm:prSet/>
      <dgm:spPr/>
      <dgm:t>
        <a:bodyPr/>
        <a:lstStyle/>
        <a:p>
          <a:endParaRPr lang="en-IN"/>
        </a:p>
      </dgm:t>
    </dgm:pt>
    <dgm:pt modelId="{87B8F9EA-3287-4520-B86C-E8F374AABE44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Word2vec properties in </a:t>
          </a:r>
          <a:r>
            <a:rPr lang="en-IN" sz="1600" dirty="0" err="1">
              <a:latin typeface="Calibri" panose="020F0502020204030204" pitchFamily="34" charset="0"/>
              <a:cs typeface="Calibri" panose="020F0502020204030204" pitchFamily="34" charset="0"/>
            </a:rPr>
            <a:t>spaCy</a:t>
          </a:r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</a:p>
      </dgm:t>
    </dgm:pt>
    <dgm:pt modelId="{D00DD9BB-4E3D-468A-BF58-835F8D176E1A}" type="parTrans" cxnId="{3E5C6597-E866-4373-BCD9-93860DF09C5A}">
      <dgm:prSet/>
      <dgm:spPr/>
      <dgm:t>
        <a:bodyPr/>
        <a:lstStyle/>
        <a:p>
          <a:endParaRPr lang="en-US"/>
        </a:p>
      </dgm:t>
    </dgm:pt>
    <dgm:pt modelId="{D1DADF7B-4567-4705-8F68-41684E988F76}" type="sibTrans" cxnId="{3E5C6597-E866-4373-BCD9-93860DF09C5A}">
      <dgm:prSet/>
      <dgm:spPr/>
      <dgm:t>
        <a:bodyPr/>
        <a:lstStyle/>
        <a:p>
          <a:endParaRPr lang="en-US"/>
        </a:p>
      </dgm:t>
    </dgm:pt>
    <dgm:pt modelId="{1C4D2F99-C78D-42C7-80A2-5BA0887E17B1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800" dirty="0">
              <a:latin typeface="Calibri" panose="020F0502020204030204" pitchFamily="34" charset="0"/>
              <a:cs typeface="Calibri" panose="020F0502020204030204" pitchFamily="34" charset="0"/>
            </a:rPr>
            <a:t>Case study</a:t>
          </a:r>
        </a:p>
      </dgm:t>
    </dgm:pt>
    <dgm:pt modelId="{3DF86CA0-27D8-4387-B41B-57787E6E2967}" type="parTrans" cxnId="{3FADC678-B56B-4D1D-A55C-76B8D9057723}">
      <dgm:prSet/>
      <dgm:spPr/>
      <dgm:t>
        <a:bodyPr/>
        <a:lstStyle/>
        <a:p>
          <a:endParaRPr lang="en-US"/>
        </a:p>
      </dgm:t>
    </dgm:pt>
    <dgm:pt modelId="{68612A85-0C7A-4883-AF07-FA3B62E88B78}" type="sibTrans" cxnId="{3FADC678-B56B-4D1D-A55C-76B8D9057723}">
      <dgm:prSet/>
      <dgm:spPr/>
      <dgm:t>
        <a:bodyPr/>
        <a:lstStyle/>
        <a:p>
          <a:endParaRPr lang="en-US"/>
        </a:p>
      </dgm:t>
    </dgm:pt>
    <dgm:pt modelId="{24728E11-E867-4651-96BE-D4610DDC76BA}" type="pres">
      <dgm:prSet presAssocID="{C2AC300D-E27F-4AFB-8385-23A3F3CA89FC}" presName="Name0" presStyleCnt="0">
        <dgm:presLayoutVars>
          <dgm:chMax val="7"/>
          <dgm:chPref val="7"/>
          <dgm:dir/>
        </dgm:presLayoutVars>
      </dgm:prSet>
      <dgm:spPr/>
    </dgm:pt>
    <dgm:pt modelId="{59666C2D-0CBC-4177-9492-0BC7B5E83920}" type="pres">
      <dgm:prSet presAssocID="{C2AC300D-E27F-4AFB-8385-23A3F3CA89FC}" presName="Name1" presStyleCnt="0"/>
      <dgm:spPr/>
    </dgm:pt>
    <dgm:pt modelId="{782150D5-7ADF-412A-B97B-C4A85E15F3EF}" type="pres">
      <dgm:prSet presAssocID="{C2AC300D-E27F-4AFB-8385-23A3F3CA89FC}" presName="cycle" presStyleCnt="0"/>
      <dgm:spPr/>
    </dgm:pt>
    <dgm:pt modelId="{1EBC8B9F-0F17-4377-A441-FE126EC2603D}" type="pres">
      <dgm:prSet presAssocID="{C2AC300D-E27F-4AFB-8385-23A3F3CA89FC}" presName="srcNode" presStyleLbl="node1" presStyleIdx="0" presStyleCnt="5"/>
      <dgm:spPr/>
    </dgm:pt>
    <dgm:pt modelId="{B4DAE58B-27CB-4D22-AABF-50F07E30140A}" type="pres">
      <dgm:prSet presAssocID="{C2AC300D-E27F-4AFB-8385-23A3F3CA89FC}" presName="conn" presStyleLbl="parChTrans1D2" presStyleIdx="0" presStyleCnt="1" custLinFactNeighborX="-42817" custLinFactNeighborY="-1118"/>
      <dgm:spPr/>
    </dgm:pt>
    <dgm:pt modelId="{0CE6508D-66DA-4F48-ABFD-9CEB3707A663}" type="pres">
      <dgm:prSet presAssocID="{C2AC300D-E27F-4AFB-8385-23A3F3CA89FC}" presName="extraNode" presStyleLbl="node1" presStyleIdx="0" presStyleCnt="5"/>
      <dgm:spPr/>
    </dgm:pt>
    <dgm:pt modelId="{2C7897B3-3F08-40FE-87A1-0A1DD86C094E}" type="pres">
      <dgm:prSet presAssocID="{C2AC300D-E27F-4AFB-8385-23A3F3CA89FC}" presName="dstNode" presStyleLbl="node1" presStyleIdx="0" presStyleCnt="5"/>
      <dgm:spPr/>
    </dgm:pt>
    <dgm:pt modelId="{C01C0331-627E-4956-B34C-4FEAB8F0B671}" type="pres">
      <dgm:prSet presAssocID="{D367BE5C-0F3A-4AB0-9359-B776EBBB96E8}" presName="text_1" presStyleLbl="node1" presStyleIdx="0" presStyleCnt="5" custScaleX="104705" custScaleY="110627">
        <dgm:presLayoutVars>
          <dgm:bulletEnabled val="1"/>
        </dgm:presLayoutVars>
      </dgm:prSet>
      <dgm:spPr/>
    </dgm:pt>
    <dgm:pt modelId="{2B23576E-7B02-4486-B322-5ADA70C34A33}" type="pres">
      <dgm:prSet presAssocID="{D367BE5C-0F3A-4AB0-9359-B776EBBB96E8}" presName="accent_1" presStyleCnt="0"/>
      <dgm:spPr/>
    </dgm:pt>
    <dgm:pt modelId="{47DFED79-DB5B-4E8C-B682-A588521A0C1E}" type="pres">
      <dgm:prSet presAssocID="{D367BE5C-0F3A-4AB0-9359-B776EBBB96E8}" presName="accentRepeatNode" presStyleLbl="solidFgAcc1" presStyleIdx="0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</dgm:pt>
    <dgm:pt modelId="{E88317C7-90A2-4C25-9546-9B945D9DCABC}" type="pres">
      <dgm:prSet presAssocID="{A3FC8B01-A315-423A-B6A8-497CB7537C33}" presName="text_2" presStyleLbl="node1" presStyleIdx="1" presStyleCnt="5" custLinFactNeighborX="9114" custLinFactNeighborY="5530">
        <dgm:presLayoutVars>
          <dgm:bulletEnabled val="1"/>
        </dgm:presLayoutVars>
      </dgm:prSet>
      <dgm:spPr/>
    </dgm:pt>
    <dgm:pt modelId="{BB278096-0873-4494-92E4-06B0E36E6A2E}" type="pres">
      <dgm:prSet presAssocID="{A3FC8B01-A315-423A-B6A8-497CB7537C33}" presName="accent_2" presStyleCnt="0"/>
      <dgm:spPr/>
    </dgm:pt>
    <dgm:pt modelId="{E429469F-E2C2-4595-B7EA-348F95B2056B}" type="pres">
      <dgm:prSet presAssocID="{A3FC8B01-A315-423A-B6A8-497CB7537C33}" presName="accentRepeatNode" presStyleLbl="solidFgAcc1" presStyleIdx="1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</dgm:pt>
    <dgm:pt modelId="{1FC4862E-0185-4A9A-9A9C-4349F963D0D7}" type="pres">
      <dgm:prSet presAssocID="{9B1EDC96-EC6A-483A-BED4-686E83E23071}" presName="text_3" presStyleLbl="node1" presStyleIdx="2" presStyleCnt="5" custScaleX="106537">
        <dgm:presLayoutVars>
          <dgm:bulletEnabled val="1"/>
        </dgm:presLayoutVars>
      </dgm:prSet>
      <dgm:spPr/>
    </dgm:pt>
    <dgm:pt modelId="{52B3BEB8-2395-4D79-985B-307706CB31ED}" type="pres">
      <dgm:prSet presAssocID="{9B1EDC96-EC6A-483A-BED4-686E83E23071}" presName="accent_3" presStyleCnt="0"/>
      <dgm:spPr/>
    </dgm:pt>
    <dgm:pt modelId="{D57AE131-E6FE-4A12-A1A0-43665D1C7D63}" type="pres">
      <dgm:prSet presAssocID="{9B1EDC96-EC6A-483A-BED4-686E83E23071}" presName="accentRepeatNode" presStyleLbl="solidFgAcc1" presStyleIdx="2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rgbClr val="00B0F0"/>
        </a:solidFill>
        <a:ln>
          <a:solidFill>
            <a:schemeClr val="bg1"/>
          </a:solidFill>
        </a:ln>
      </dgm:spPr>
    </dgm:pt>
    <dgm:pt modelId="{1280C9D9-236B-47CE-A4E9-93A47AF7EF7D}" type="pres">
      <dgm:prSet presAssocID="{87B8F9EA-3287-4520-B86C-E8F374AABE44}" presName="text_4" presStyleLbl="node1" presStyleIdx="3" presStyleCnt="5" custScaleX="106826">
        <dgm:presLayoutVars>
          <dgm:bulletEnabled val="1"/>
        </dgm:presLayoutVars>
      </dgm:prSet>
      <dgm:spPr/>
    </dgm:pt>
    <dgm:pt modelId="{E8559CA7-49B0-4F7D-A767-E64EB4EDB3E7}" type="pres">
      <dgm:prSet presAssocID="{87B8F9EA-3287-4520-B86C-E8F374AABE44}" presName="accent_4" presStyleCnt="0"/>
      <dgm:spPr/>
    </dgm:pt>
    <dgm:pt modelId="{9553D612-A85C-486E-B461-6A4C76F01CF5}" type="pres">
      <dgm:prSet presAssocID="{87B8F9EA-3287-4520-B86C-E8F374AABE44}" presName="accentRepeatNode" presStyleLbl="solidFgAcc1" presStyleIdx="3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70C0"/>
          </a:solidFill>
        </a:ln>
      </dgm:spPr>
    </dgm:pt>
    <dgm:pt modelId="{02C60EB4-86C6-4D5A-9674-6001E5836B87}" type="pres">
      <dgm:prSet presAssocID="{1C4D2F99-C78D-42C7-80A2-5BA0887E17B1}" presName="text_5" presStyleLbl="node1" presStyleIdx="4" presStyleCnt="5" custScaleX="106347">
        <dgm:presLayoutVars>
          <dgm:bulletEnabled val="1"/>
        </dgm:presLayoutVars>
      </dgm:prSet>
      <dgm:spPr/>
    </dgm:pt>
    <dgm:pt modelId="{34851621-2954-4C63-AF8F-290194193FB3}" type="pres">
      <dgm:prSet presAssocID="{1C4D2F99-C78D-42C7-80A2-5BA0887E17B1}" presName="accent_5" presStyleCnt="0"/>
      <dgm:spPr/>
    </dgm:pt>
    <dgm:pt modelId="{CF67B4C3-0D7A-442A-904D-3057A1EF857C}" type="pres">
      <dgm:prSet presAssocID="{1C4D2F99-C78D-42C7-80A2-5BA0887E17B1}" presName="accentRepeatNode" presStyleLbl="solidFgAcc1" presStyleIdx="4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70C0"/>
          </a:solidFill>
        </a:ln>
      </dgm:spPr>
    </dgm:pt>
  </dgm:ptLst>
  <dgm:cxnLst>
    <dgm:cxn modelId="{26F4FD0D-13F1-4C96-AFDB-F9045F818B91}" srcId="{C2AC300D-E27F-4AFB-8385-23A3F3CA89FC}" destId="{A3FC8B01-A315-423A-B6A8-497CB7537C33}" srcOrd="1" destOrd="0" parTransId="{01F17156-9D30-42C3-9242-5D2919E38418}" sibTransId="{8B0E0B0A-EC01-4520-9C38-DC3440CF1BC2}"/>
    <dgm:cxn modelId="{98A17C1E-2D2E-4A7F-A4DF-C7CE8D52E74D}" srcId="{C2AC300D-E27F-4AFB-8385-23A3F3CA89FC}" destId="{D367BE5C-0F3A-4AB0-9359-B776EBBB96E8}" srcOrd="0" destOrd="0" parTransId="{645097FC-E8BC-4765-BFDE-80FFD33C56D2}" sibTransId="{F18B1F0E-8219-4BFA-A849-7B03740D42DD}"/>
    <dgm:cxn modelId="{38F36D61-D459-4002-B9D7-12C1D9C65DA6}" type="presOf" srcId="{C2AC300D-E27F-4AFB-8385-23A3F3CA89FC}" destId="{24728E11-E867-4651-96BE-D4610DDC76BA}" srcOrd="0" destOrd="0" presId="urn:microsoft.com/office/officeart/2008/layout/VerticalCurvedList"/>
    <dgm:cxn modelId="{08E24E4E-19E6-4CB8-952D-DEAEDD6CB718}" type="presOf" srcId="{A3FC8B01-A315-423A-B6A8-497CB7537C33}" destId="{E88317C7-90A2-4C25-9546-9B945D9DCABC}" srcOrd="0" destOrd="0" presId="urn:microsoft.com/office/officeart/2008/layout/VerticalCurvedList"/>
    <dgm:cxn modelId="{3FADC678-B56B-4D1D-A55C-76B8D9057723}" srcId="{C2AC300D-E27F-4AFB-8385-23A3F3CA89FC}" destId="{1C4D2F99-C78D-42C7-80A2-5BA0887E17B1}" srcOrd="4" destOrd="0" parTransId="{3DF86CA0-27D8-4387-B41B-57787E6E2967}" sibTransId="{68612A85-0C7A-4883-AF07-FA3B62E88B78}"/>
    <dgm:cxn modelId="{3E5C6597-E866-4373-BCD9-93860DF09C5A}" srcId="{C2AC300D-E27F-4AFB-8385-23A3F3CA89FC}" destId="{87B8F9EA-3287-4520-B86C-E8F374AABE44}" srcOrd="3" destOrd="0" parTransId="{D00DD9BB-4E3D-468A-BF58-835F8D176E1A}" sibTransId="{D1DADF7B-4567-4705-8F68-41684E988F76}"/>
    <dgm:cxn modelId="{140382B3-F4C6-47C9-991A-9971D8E5CD39}" type="presOf" srcId="{87B8F9EA-3287-4520-B86C-E8F374AABE44}" destId="{1280C9D9-236B-47CE-A4E9-93A47AF7EF7D}" srcOrd="0" destOrd="0" presId="urn:microsoft.com/office/officeart/2008/layout/VerticalCurvedList"/>
    <dgm:cxn modelId="{BC8180BA-13A3-4B6E-B226-B76BE18092A3}" type="presOf" srcId="{D367BE5C-0F3A-4AB0-9359-B776EBBB96E8}" destId="{C01C0331-627E-4956-B34C-4FEAB8F0B671}" srcOrd="0" destOrd="0" presId="urn:microsoft.com/office/officeart/2008/layout/VerticalCurvedList"/>
    <dgm:cxn modelId="{CB0F28CF-A080-4B7F-8D7E-6BAD74D71D82}" srcId="{C2AC300D-E27F-4AFB-8385-23A3F3CA89FC}" destId="{9B1EDC96-EC6A-483A-BED4-686E83E23071}" srcOrd="2" destOrd="0" parTransId="{9175944A-D53D-4B76-B8CC-0CC9B921C6A5}" sibTransId="{08EBC0C5-1C8B-47AF-B36B-C6F27A4A3E04}"/>
    <dgm:cxn modelId="{848FDBD1-079E-408D-8239-7A733CB5E6E8}" type="presOf" srcId="{F18B1F0E-8219-4BFA-A849-7B03740D42DD}" destId="{B4DAE58B-27CB-4D22-AABF-50F07E30140A}" srcOrd="0" destOrd="0" presId="urn:microsoft.com/office/officeart/2008/layout/VerticalCurvedList"/>
    <dgm:cxn modelId="{F5A402DE-80CF-4EC2-86AA-7BD5D3EB0243}" type="presOf" srcId="{1C4D2F99-C78D-42C7-80A2-5BA0887E17B1}" destId="{02C60EB4-86C6-4D5A-9674-6001E5836B87}" srcOrd="0" destOrd="0" presId="urn:microsoft.com/office/officeart/2008/layout/VerticalCurvedList"/>
    <dgm:cxn modelId="{ACB80CF9-81A4-4C26-865B-795D90854554}" type="presOf" srcId="{9B1EDC96-EC6A-483A-BED4-686E83E23071}" destId="{1FC4862E-0185-4A9A-9A9C-4349F963D0D7}" srcOrd="0" destOrd="0" presId="urn:microsoft.com/office/officeart/2008/layout/VerticalCurvedList"/>
    <dgm:cxn modelId="{619A0C01-A365-4A32-92DF-8E3F12603F95}" type="presParOf" srcId="{24728E11-E867-4651-96BE-D4610DDC76BA}" destId="{59666C2D-0CBC-4177-9492-0BC7B5E83920}" srcOrd="0" destOrd="0" presId="urn:microsoft.com/office/officeart/2008/layout/VerticalCurvedList"/>
    <dgm:cxn modelId="{9437C4A3-37EC-4BE4-AA95-76B8E33061A5}" type="presParOf" srcId="{59666C2D-0CBC-4177-9492-0BC7B5E83920}" destId="{782150D5-7ADF-412A-B97B-C4A85E15F3EF}" srcOrd="0" destOrd="0" presId="urn:microsoft.com/office/officeart/2008/layout/VerticalCurvedList"/>
    <dgm:cxn modelId="{8FA73427-1B94-4BBB-BAEB-5F64AD7F1DCD}" type="presParOf" srcId="{782150D5-7ADF-412A-B97B-C4A85E15F3EF}" destId="{1EBC8B9F-0F17-4377-A441-FE126EC2603D}" srcOrd="0" destOrd="0" presId="urn:microsoft.com/office/officeart/2008/layout/VerticalCurvedList"/>
    <dgm:cxn modelId="{25ADAD80-CCF4-4DC0-8A99-8DC83893A2FB}" type="presParOf" srcId="{782150D5-7ADF-412A-B97B-C4A85E15F3EF}" destId="{B4DAE58B-27CB-4D22-AABF-50F07E30140A}" srcOrd="1" destOrd="0" presId="urn:microsoft.com/office/officeart/2008/layout/VerticalCurvedList"/>
    <dgm:cxn modelId="{12958C5F-073C-4EEC-ADF9-55266F9E77DA}" type="presParOf" srcId="{782150D5-7ADF-412A-B97B-C4A85E15F3EF}" destId="{0CE6508D-66DA-4F48-ABFD-9CEB3707A663}" srcOrd="2" destOrd="0" presId="urn:microsoft.com/office/officeart/2008/layout/VerticalCurvedList"/>
    <dgm:cxn modelId="{27AF1D2C-3FFF-4727-BC81-EFCD9BE6FD59}" type="presParOf" srcId="{782150D5-7ADF-412A-B97B-C4A85E15F3EF}" destId="{2C7897B3-3F08-40FE-87A1-0A1DD86C094E}" srcOrd="3" destOrd="0" presId="urn:microsoft.com/office/officeart/2008/layout/VerticalCurvedList"/>
    <dgm:cxn modelId="{28EB1BE6-F9A7-479B-B8B1-B7AF07E0BD55}" type="presParOf" srcId="{59666C2D-0CBC-4177-9492-0BC7B5E83920}" destId="{C01C0331-627E-4956-B34C-4FEAB8F0B671}" srcOrd="1" destOrd="0" presId="urn:microsoft.com/office/officeart/2008/layout/VerticalCurvedList"/>
    <dgm:cxn modelId="{54EBFE62-19EF-410B-B754-57C780963AB9}" type="presParOf" srcId="{59666C2D-0CBC-4177-9492-0BC7B5E83920}" destId="{2B23576E-7B02-4486-B322-5ADA70C34A33}" srcOrd="2" destOrd="0" presId="urn:microsoft.com/office/officeart/2008/layout/VerticalCurvedList"/>
    <dgm:cxn modelId="{8A2F1BA0-DCBE-4615-89F5-54135CDBF45C}" type="presParOf" srcId="{2B23576E-7B02-4486-B322-5ADA70C34A33}" destId="{47DFED79-DB5B-4E8C-B682-A588521A0C1E}" srcOrd="0" destOrd="0" presId="urn:microsoft.com/office/officeart/2008/layout/VerticalCurvedList"/>
    <dgm:cxn modelId="{77CAD933-8DF2-4DD0-A159-0F31AF4E0C7D}" type="presParOf" srcId="{59666C2D-0CBC-4177-9492-0BC7B5E83920}" destId="{E88317C7-90A2-4C25-9546-9B945D9DCABC}" srcOrd="3" destOrd="0" presId="urn:microsoft.com/office/officeart/2008/layout/VerticalCurvedList"/>
    <dgm:cxn modelId="{BB1DCB31-05D3-4646-9DE7-0D288A98EA6D}" type="presParOf" srcId="{59666C2D-0CBC-4177-9492-0BC7B5E83920}" destId="{BB278096-0873-4494-92E4-06B0E36E6A2E}" srcOrd="4" destOrd="0" presId="urn:microsoft.com/office/officeart/2008/layout/VerticalCurvedList"/>
    <dgm:cxn modelId="{6BE8B628-D90C-458D-B12D-31394C556B46}" type="presParOf" srcId="{BB278096-0873-4494-92E4-06B0E36E6A2E}" destId="{E429469F-E2C2-4595-B7EA-348F95B2056B}" srcOrd="0" destOrd="0" presId="urn:microsoft.com/office/officeart/2008/layout/VerticalCurvedList"/>
    <dgm:cxn modelId="{ED728404-1B5F-492A-86CD-22C7C84A21BE}" type="presParOf" srcId="{59666C2D-0CBC-4177-9492-0BC7B5E83920}" destId="{1FC4862E-0185-4A9A-9A9C-4349F963D0D7}" srcOrd="5" destOrd="0" presId="urn:microsoft.com/office/officeart/2008/layout/VerticalCurvedList"/>
    <dgm:cxn modelId="{9B6C424B-F1D6-4313-8EDF-D7E62BA96E6F}" type="presParOf" srcId="{59666C2D-0CBC-4177-9492-0BC7B5E83920}" destId="{52B3BEB8-2395-4D79-985B-307706CB31ED}" srcOrd="6" destOrd="0" presId="urn:microsoft.com/office/officeart/2008/layout/VerticalCurvedList"/>
    <dgm:cxn modelId="{0CF87676-6EFC-46DC-A699-0EEC201CB04F}" type="presParOf" srcId="{52B3BEB8-2395-4D79-985B-307706CB31ED}" destId="{D57AE131-E6FE-4A12-A1A0-43665D1C7D63}" srcOrd="0" destOrd="0" presId="urn:microsoft.com/office/officeart/2008/layout/VerticalCurvedList"/>
    <dgm:cxn modelId="{7738CA3E-9140-4697-87D1-1F043EEC3BC0}" type="presParOf" srcId="{59666C2D-0CBC-4177-9492-0BC7B5E83920}" destId="{1280C9D9-236B-47CE-A4E9-93A47AF7EF7D}" srcOrd="7" destOrd="0" presId="urn:microsoft.com/office/officeart/2008/layout/VerticalCurvedList"/>
    <dgm:cxn modelId="{0A0CC41E-A561-4FF8-A121-DE42C0359915}" type="presParOf" srcId="{59666C2D-0CBC-4177-9492-0BC7B5E83920}" destId="{E8559CA7-49B0-4F7D-A767-E64EB4EDB3E7}" srcOrd="8" destOrd="0" presId="urn:microsoft.com/office/officeart/2008/layout/VerticalCurvedList"/>
    <dgm:cxn modelId="{CE6C73FE-BFDF-4732-A235-9B863D135D2B}" type="presParOf" srcId="{E8559CA7-49B0-4F7D-A767-E64EB4EDB3E7}" destId="{9553D612-A85C-486E-B461-6A4C76F01CF5}" srcOrd="0" destOrd="0" presId="urn:microsoft.com/office/officeart/2008/layout/VerticalCurvedList"/>
    <dgm:cxn modelId="{334361DE-EAA4-4F2D-9468-DC924B80DB97}" type="presParOf" srcId="{59666C2D-0CBC-4177-9492-0BC7B5E83920}" destId="{02C60EB4-86C6-4D5A-9674-6001E5836B87}" srcOrd="9" destOrd="0" presId="urn:microsoft.com/office/officeart/2008/layout/VerticalCurvedList"/>
    <dgm:cxn modelId="{5EC84675-FB32-46AB-87E4-5D498CBD3032}" type="presParOf" srcId="{59666C2D-0CBC-4177-9492-0BC7B5E83920}" destId="{34851621-2954-4C63-AF8F-290194193FB3}" srcOrd="10" destOrd="0" presId="urn:microsoft.com/office/officeart/2008/layout/VerticalCurvedList"/>
    <dgm:cxn modelId="{280FA445-1C23-4817-A9CA-0C40298D67FF}" type="presParOf" srcId="{34851621-2954-4C63-AF8F-290194193FB3}" destId="{CF67B4C3-0D7A-442A-904D-3057A1EF857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DF5930-E591-4A01-98D9-3FB02A37D562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D04DB1-2800-4B62-8113-8F14820BB6E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CBOW</a:t>
          </a:r>
        </a:p>
      </dgm:t>
    </dgm:pt>
    <dgm:pt modelId="{09E41E77-4770-43BF-94DE-2499B6F85391}" type="parTrans" cxnId="{E513B747-3A51-4712-8C83-455345E9EFFF}">
      <dgm:prSet/>
      <dgm:spPr/>
      <dgm:t>
        <a:bodyPr/>
        <a:lstStyle/>
        <a:p>
          <a:endParaRPr lang="en-US"/>
        </a:p>
      </dgm:t>
    </dgm:pt>
    <dgm:pt modelId="{E8CE7127-EAE8-41F0-94B9-F5D0E81656E3}" type="sibTrans" cxnId="{E513B747-3A51-4712-8C83-455345E9EFFF}">
      <dgm:prSet/>
      <dgm:spPr/>
      <dgm:t>
        <a:bodyPr/>
        <a:lstStyle/>
        <a:p>
          <a:endParaRPr lang="en-US"/>
        </a:p>
      </dgm:t>
    </dgm:pt>
    <dgm:pt modelId="{1D845ADF-7947-449A-92D9-290B4570D7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CBOW model learns to predict a target word leveraging all words in its neighborhood. The sum of the context vectors are used to predict the target word. The neighboring words taken into consideration is determined by a pre-defined window size surrounding the target word.</a:t>
          </a:r>
        </a:p>
      </dgm:t>
    </dgm:pt>
    <dgm:pt modelId="{9C3E1A1E-61DE-4C87-8C63-49C7DE08DD02}" type="parTrans" cxnId="{9F314B27-F97C-410C-ABDA-8622DD4C82D4}">
      <dgm:prSet/>
      <dgm:spPr/>
      <dgm:t>
        <a:bodyPr/>
        <a:lstStyle/>
        <a:p>
          <a:endParaRPr lang="en-US"/>
        </a:p>
      </dgm:t>
    </dgm:pt>
    <dgm:pt modelId="{C9D07818-8A34-4D39-B789-B4D1A8C1B0B0}" type="sibTrans" cxnId="{9F314B27-F97C-410C-ABDA-8622DD4C82D4}">
      <dgm:prSet/>
      <dgm:spPr/>
      <dgm:t>
        <a:bodyPr/>
        <a:lstStyle/>
        <a:p>
          <a:endParaRPr lang="en-US"/>
        </a:p>
      </dgm:t>
    </dgm:pt>
    <dgm:pt modelId="{77CB862C-0774-4856-BDAA-BE040190FE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SkipGram</a:t>
          </a:r>
        </a:p>
      </dgm:t>
    </dgm:pt>
    <dgm:pt modelId="{0EEE787E-A536-4E53-BB54-D9EE1756F823}" type="parTrans" cxnId="{E3F17186-822D-4A5B-B0C4-9DD394F64EF5}">
      <dgm:prSet/>
      <dgm:spPr/>
      <dgm:t>
        <a:bodyPr/>
        <a:lstStyle/>
        <a:p>
          <a:endParaRPr lang="en-US"/>
        </a:p>
      </dgm:t>
    </dgm:pt>
    <dgm:pt modelId="{5346E11F-1E9A-455F-88C5-4A04DA8419F9}" type="sibTrans" cxnId="{E3F17186-822D-4A5B-B0C4-9DD394F64EF5}">
      <dgm:prSet/>
      <dgm:spPr/>
      <dgm:t>
        <a:bodyPr/>
        <a:lstStyle/>
        <a:p>
          <a:endParaRPr lang="en-US"/>
        </a:p>
      </dgm:t>
    </dgm:pt>
    <dgm:pt modelId="{8CD76775-F197-452D-B5FC-8714F7FD20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SkipGram model on the other hand, learns to predict a word based on a neighboring word. To put it simply, given a word, it learns to predict another word in it’s context.</a:t>
          </a:r>
        </a:p>
      </dgm:t>
    </dgm:pt>
    <dgm:pt modelId="{E12EE100-4DE0-48EA-AAF1-722AA4823F0A}" type="parTrans" cxnId="{69F74620-04F4-4C5D-A6B5-49E0FF26624E}">
      <dgm:prSet/>
      <dgm:spPr/>
      <dgm:t>
        <a:bodyPr/>
        <a:lstStyle/>
        <a:p>
          <a:endParaRPr lang="en-US"/>
        </a:p>
      </dgm:t>
    </dgm:pt>
    <dgm:pt modelId="{14592135-3210-407A-AE10-1E8AD901E02D}" type="sibTrans" cxnId="{69F74620-04F4-4C5D-A6B5-49E0FF26624E}">
      <dgm:prSet/>
      <dgm:spPr/>
      <dgm:t>
        <a:bodyPr/>
        <a:lstStyle/>
        <a:p>
          <a:endParaRPr lang="en-US"/>
        </a:p>
      </dgm:t>
    </dgm:pt>
    <dgm:pt modelId="{27597E58-DD98-4FE4-9B50-7E4FA0EE2DBB}" type="pres">
      <dgm:prSet presAssocID="{E7DF5930-E591-4A01-98D9-3FB02A37D562}" presName="root" presStyleCnt="0">
        <dgm:presLayoutVars>
          <dgm:dir/>
          <dgm:resizeHandles val="exact"/>
        </dgm:presLayoutVars>
      </dgm:prSet>
      <dgm:spPr/>
    </dgm:pt>
    <dgm:pt modelId="{E96E8AA4-8780-44F4-A4D8-6BAA559ABD05}" type="pres">
      <dgm:prSet presAssocID="{B9D04DB1-2800-4B62-8113-8F14820BB6EB}" presName="compNode" presStyleCnt="0"/>
      <dgm:spPr/>
    </dgm:pt>
    <dgm:pt modelId="{5E24ECC4-AF2C-4A5C-AFA1-3464A1FCC810}" type="pres">
      <dgm:prSet presAssocID="{B9D04DB1-2800-4B62-8113-8F14820BB6E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C90C811-E4A1-4B65-B885-2418F157B03F}" type="pres">
      <dgm:prSet presAssocID="{B9D04DB1-2800-4B62-8113-8F14820BB6EB}" presName="iconSpace" presStyleCnt="0"/>
      <dgm:spPr/>
    </dgm:pt>
    <dgm:pt modelId="{37F5D319-7023-4940-9EA9-C0397C44ED41}" type="pres">
      <dgm:prSet presAssocID="{B9D04DB1-2800-4B62-8113-8F14820BB6EB}" presName="parTx" presStyleLbl="revTx" presStyleIdx="0" presStyleCnt="4">
        <dgm:presLayoutVars>
          <dgm:chMax val="0"/>
          <dgm:chPref val="0"/>
        </dgm:presLayoutVars>
      </dgm:prSet>
      <dgm:spPr/>
    </dgm:pt>
    <dgm:pt modelId="{1B4C428C-2E6C-4152-A8CF-70A2A2B8DDEF}" type="pres">
      <dgm:prSet presAssocID="{B9D04DB1-2800-4B62-8113-8F14820BB6EB}" presName="txSpace" presStyleCnt="0"/>
      <dgm:spPr/>
    </dgm:pt>
    <dgm:pt modelId="{0AF244DD-90DA-42A6-8C62-98EF5836FF28}" type="pres">
      <dgm:prSet presAssocID="{B9D04DB1-2800-4B62-8113-8F14820BB6EB}" presName="desTx" presStyleLbl="revTx" presStyleIdx="1" presStyleCnt="4">
        <dgm:presLayoutVars/>
      </dgm:prSet>
      <dgm:spPr/>
    </dgm:pt>
    <dgm:pt modelId="{527CBDFD-1DEB-456F-9CB1-AED5905EAD60}" type="pres">
      <dgm:prSet presAssocID="{E8CE7127-EAE8-41F0-94B9-F5D0E81656E3}" presName="sibTrans" presStyleCnt="0"/>
      <dgm:spPr/>
    </dgm:pt>
    <dgm:pt modelId="{D83E059A-E796-4235-A09C-75FD83490486}" type="pres">
      <dgm:prSet presAssocID="{77CB862C-0774-4856-BDAA-BE040190FEEA}" presName="compNode" presStyleCnt="0"/>
      <dgm:spPr/>
    </dgm:pt>
    <dgm:pt modelId="{3EBCD63D-2B12-4DDD-9CF2-986D6CB732B0}" type="pres">
      <dgm:prSet presAssocID="{77CB862C-0774-4856-BDAA-BE040190FEE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BAA9C5B0-311B-4260-B727-1F891814910B}" type="pres">
      <dgm:prSet presAssocID="{77CB862C-0774-4856-BDAA-BE040190FEEA}" presName="iconSpace" presStyleCnt="0"/>
      <dgm:spPr/>
    </dgm:pt>
    <dgm:pt modelId="{C60A6F5D-90A7-4B62-B79B-D6F73D7F7920}" type="pres">
      <dgm:prSet presAssocID="{77CB862C-0774-4856-BDAA-BE040190FEEA}" presName="parTx" presStyleLbl="revTx" presStyleIdx="2" presStyleCnt="4">
        <dgm:presLayoutVars>
          <dgm:chMax val="0"/>
          <dgm:chPref val="0"/>
        </dgm:presLayoutVars>
      </dgm:prSet>
      <dgm:spPr/>
    </dgm:pt>
    <dgm:pt modelId="{49821528-3338-44B0-A5BF-E52625A73E00}" type="pres">
      <dgm:prSet presAssocID="{77CB862C-0774-4856-BDAA-BE040190FEEA}" presName="txSpace" presStyleCnt="0"/>
      <dgm:spPr/>
    </dgm:pt>
    <dgm:pt modelId="{C76B1FF0-091B-483F-9327-DA691286D741}" type="pres">
      <dgm:prSet presAssocID="{77CB862C-0774-4856-BDAA-BE040190FEEA}" presName="desTx" presStyleLbl="revTx" presStyleIdx="3" presStyleCnt="4">
        <dgm:presLayoutVars/>
      </dgm:prSet>
      <dgm:spPr/>
    </dgm:pt>
  </dgm:ptLst>
  <dgm:cxnLst>
    <dgm:cxn modelId="{7584570F-5287-4E6F-A488-8CD83FD4E11B}" type="presOf" srcId="{B9D04DB1-2800-4B62-8113-8F14820BB6EB}" destId="{37F5D319-7023-4940-9EA9-C0397C44ED41}" srcOrd="0" destOrd="0" presId="urn:microsoft.com/office/officeart/2018/5/layout/CenteredIconLabelDescriptionList"/>
    <dgm:cxn modelId="{69F74620-04F4-4C5D-A6B5-49E0FF26624E}" srcId="{77CB862C-0774-4856-BDAA-BE040190FEEA}" destId="{8CD76775-F197-452D-B5FC-8714F7FD2098}" srcOrd="0" destOrd="0" parTransId="{E12EE100-4DE0-48EA-AAF1-722AA4823F0A}" sibTransId="{14592135-3210-407A-AE10-1E8AD901E02D}"/>
    <dgm:cxn modelId="{9F314B27-F97C-410C-ABDA-8622DD4C82D4}" srcId="{B9D04DB1-2800-4B62-8113-8F14820BB6EB}" destId="{1D845ADF-7947-449A-92D9-290B4570D70C}" srcOrd="0" destOrd="0" parTransId="{9C3E1A1E-61DE-4C87-8C63-49C7DE08DD02}" sibTransId="{C9D07818-8A34-4D39-B789-B4D1A8C1B0B0}"/>
    <dgm:cxn modelId="{AA42E130-3137-46FB-AA6E-519750072C84}" type="presOf" srcId="{1D845ADF-7947-449A-92D9-290B4570D70C}" destId="{0AF244DD-90DA-42A6-8C62-98EF5836FF28}" srcOrd="0" destOrd="0" presId="urn:microsoft.com/office/officeart/2018/5/layout/CenteredIconLabelDescriptionList"/>
    <dgm:cxn modelId="{2431D43B-98D3-4D72-A3F9-A15106890503}" type="presOf" srcId="{77CB862C-0774-4856-BDAA-BE040190FEEA}" destId="{C60A6F5D-90A7-4B62-B79B-D6F73D7F7920}" srcOrd="0" destOrd="0" presId="urn:microsoft.com/office/officeart/2018/5/layout/CenteredIconLabelDescriptionList"/>
    <dgm:cxn modelId="{0ECD9661-34AF-446A-A4A7-04E26FC5A9D8}" type="presOf" srcId="{E7DF5930-E591-4A01-98D9-3FB02A37D562}" destId="{27597E58-DD98-4FE4-9B50-7E4FA0EE2DBB}" srcOrd="0" destOrd="0" presId="urn:microsoft.com/office/officeart/2018/5/layout/CenteredIconLabelDescriptionList"/>
    <dgm:cxn modelId="{E513B747-3A51-4712-8C83-455345E9EFFF}" srcId="{E7DF5930-E591-4A01-98D9-3FB02A37D562}" destId="{B9D04DB1-2800-4B62-8113-8F14820BB6EB}" srcOrd="0" destOrd="0" parTransId="{09E41E77-4770-43BF-94DE-2499B6F85391}" sibTransId="{E8CE7127-EAE8-41F0-94B9-F5D0E81656E3}"/>
    <dgm:cxn modelId="{E3F17186-822D-4A5B-B0C4-9DD394F64EF5}" srcId="{E7DF5930-E591-4A01-98D9-3FB02A37D562}" destId="{77CB862C-0774-4856-BDAA-BE040190FEEA}" srcOrd="1" destOrd="0" parTransId="{0EEE787E-A536-4E53-BB54-D9EE1756F823}" sibTransId="{5346E11F-1E9A-455F-88C5-4A04DA8419F9}"/>
    <dgm:cxn modelId="{42CCEBD9-A935-4B64-A6C4-A5BE6FAAA012}" type="presOf" srcId="{8CD76775-F197-452D-B5FC-8714F7FD2098}" destId="{C76B1FF0-091B-483F-9327-DA691286D741}" srcOrd="0" destOrd="0" presId="urn:microsoft.com/office/officeart/2018/5/layout/CenteredIconLabelDescriptionList"/>
    <dgm:cxn modelId="{158F89DE-04EB-491D-8FB6-E859CEBE3EE0}" type="presParOf" srcId="{27597E58-DD98-4FE4-9B50-7E4FA0EE2DBB}" destId="{E96E8AA4-8780-44F4-A4D8-6BAA559ABD05}" srcOrd="0" destOrd="0" presId="urn:microsoft.com/office/officeart/2018/5/layout/CenteredIconLabelDescriptionList"/>
    <dgm:cxn modelId="{03E65DA3-6C35-4E20-BADA-057D538791B4}" type="presParOf" srcId="{E96E8AA4-8780-44F4-A4D8-6BAA559ABD05}" destId="{5E24ECC4-AF2C-4A5C-AFA1-3464A1FCC810}" srcOrd="0" destOrd="0" presId="urn:microsoft.com/office/officeart/2018/5/layout/CenteredIconLabelDescriptionList"/>
    <dgm:cxn modelId="{BA1ED819-F865-4F26-86F2-FA1FCA51FAA9}" type="presParOf" srcId="{E96E8AA4-8780-44F4-A4D8-6BAA559ABD05}" destId="{0C90C811-E4A1-4B65-B885-2418F157B03F}" srcOrd="1" destOrd="0" presId="urn:microsoft.com/office/officeart/2018/5/layout/CenteredIconLabelDescriptionList"/>
    <dgm:cxn modelId="{3721D1EF-1081-4AF2-8819-E0BB6252EB7B}" type="presParOf" srcId="{E96E8AA4-8780-44F4-A4D8-6BAA559ABD05}" destId="{37F5D319-7023-4940-9EA9-C0397C44ED41}" srcOrd="2" destOrd="0" presId="urn:microsoft.com/office/officeart/2018/5/layout/CenteredIconLabelDescriptionList"/>
    <dgm:cxn modelId="{15B904D5-DAED-4469-A38D-44AA0F34F479}" type="presParOf" srcId="{E96E8AA4-8780-44F4-A4D8-6BAA559ABD05}" destId="{1B4C428C-2E6C-4152-A8CF-70A2A2B8DDEF}" srcOrd="3" destOrd="0" presId="urn:microsoft.com/office/officeart/2018/5/layout/CenteredIconLabelDescriptionList"/>
    <dgm:cxn modelId="{C4005DEC-924E-4026-9F2C-6AFBF4627ADB}" type="presParOf" srcId="{E96E8AA4-8780-44F4-A4D8-6BAA559ABD05}" destId="{0AF244DD-90DA-42A6-8C62-98EF5836FF28}" srcOrd="4" destOrd="0" presId="urn:microsoft.com/office/officeart/2018/5/layout/CenteredIconLabelDescriptionList"/>
    <dgm:cxn modelId="{37E60329-92AD-4C0D-8F92-5AEEEB4DE931}" type="presParOf" srcId="{27597E58-DD98-4FE4-9B50-7E4FA0EE2DBB}" destId="{527CBDFD-1DEB-456F-9CB1-AED5905EAD60}" srcOrd="1" destOrd="0" presId="urn:microsoft.com/office/officeart/2018/5/layout/CenteredIconLabelDescriptionList"/>
    <dgm:cxn modelId="{1754EE5B-59A0-41F7-A76F-EC9D733F2F98}" type="presParOf" srcId="{27597E58-DD98-4FE4-9B50-7E4FA0EE2DBB}" destId="{D83E059A-E796-4235-A09C-75FD83490486}" srcOrd="2" destOrd="0" presId="urn:microsoft.com/office/officeart/2018/5/layout/CenteredIconLabelDescriptionList"/>
    <dgm:cxn modelId="{AFD31A5B-D43D-42E0-8939-9D36C5B7429B}" type="presParOf" srcId="{D83E059A-E796-4235-A09C-75FD83490486}" destId="{3EBCD63D-2B12-4DDD-9CF2-986D6CB732B0}" srcOrd="0" destOrd="0" presId="urn:microsoft.com/office/officeart/2018/5/layout/CenteredIconLabelDescriptionList"/>
    <dgm:cxn modelId="{3DB1E4C1-50D9-437E-99BA-BC85276F745A}" type="presParOf" srcId="{D83E059A-E796-4235-A09C-75FD83490486}" destId="{BAA9C5B0-311B-4260-B727-1F891814910B}" srcOrd="1" destOrd="0" presId="urn:microsoft.com/office/officeart/2018/5/layout/CenteredIconLabelDescriptionList"/>
    <dgm:cxn modelId="{390EAE67-3EAC-49CF-B022-720DCCDA090D}" type="presParOf" srcId="{D83E059A-E796-4235-A09C-75FD83490486}" destId="{C60A6F5D-90A7-4B62-B79B-D6F73D7F7920}" srcOrd="2" destOrd="0" presId="urn:microsoft.com/office/officeart/2018/5/layout/CenteredIconLabelDescriptionList"/>
    <dgm:cxn modelId="{BDC3291E-43D8-4ADA-A33A-7B2D2F3887B2}" type="presParOf" srcId="{D83E059A-E796-4235-A09C-75FD83490486}" destId="{49821528-3338-44B0-A5BF-E52625A73E00}" srcOrd="3" destOrd="0" presId="urn:microsoft.com/office/officeart/2018/5/layout/CenteredIconLabelDescriptionList"/>
    <dgm:cxn modelId="{5E0892E9-1A38-49D7-B606-856E6F44BB4F}" type="presParOf" srcId="{D83E059A-E796-4235-A09C-75FD83490486}" destId="{C76B1FF0-091B-483F-9327-DA691286D74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2AC300D-E27F-4AFB-8385-23A3F3CA89FC}" type="doc">
      <dgm:prSet loTypeId="urn:microsoft.com/office/officeart/2008/layout/VerticalCurvedList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D367BE5C-0F3A-4AB0-9359-B776EBBB96E8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b="0" dirty="0">
              <a:latin typeface="Calibri" panose="020F0502020204030204" pitchFamily="34" charset="0"/>
              <a:cs typeface="Calibri" panose="020F0502020204030204" pitchFamily="34" charset="0"/>
            </a:rPr>
            <a:t>       Vectorization</a:t>
          </a:r>
        </a:p>
      </dgm:t>
    </dgm:pt>
    <dgm:pt modelId="{645097FC-E8BC-4765-BFDE-80FFD33C56D2}" type="parTrans" cxnId="{98A17C1E-2D2E-4A7F-A4DF-C7CE8D52E74D}">
      <dgm:prSet/>
      <dgm:spPr/>
      <dgm:t>
        <a:bodyPr/>
        <a:lstStyle/>
        <a:p>
          <a:endParaRPr lang="en-IN"/>
        </a:p>
      </dgm:t>
    </dgm:pt>
    <dgm:pt modelId="{F18B1F0E-8219-4BFA-A849-7B03740D42DD}" type="sibTrans" cxnId="{98A17C1E-2D2E-4A7F-A4DF-C7CE8D52E74D}">
      <dgm:prSet/>
      <dgm:spPr/>
      <dgm:t>
        <a:bodyPr/>
        <a:lstStyle/>
        <a:p>
          <a:endParaRPr lang="en-IN"/>
        </a:p>
      </dgm:t>
    </dgm:pt>
    <dgm:pt modelId="{9B1EDC96-EC6A-483A-BED4-686E83E23071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noFill/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Deeper understanding of w2v</a:t>
          </a:r>
        </a:p>
      </dgm:t>
    </dgm:pt>
    <dgm:pt modelId="{9175944A-D53D-4B76-B8CC-0CC9B921C6A5}" type="parTrans" cxnId="{CB0F28CF-A080-4B7F-8D7E-6BAD74D71D82}">
      <dgm:prSet/>
      <dgm:spPr/>
      <dgm:t>
        <a:bodyPr/>
        <a:lstStyle/>
        <a:p>
          <a:endParaRPr lang="en-IN"/>
        </a:p>
      </dgm:t>
    </dgm:pt>
    <dgm:pt modelId="{08EBC0C5-1C8B-47AF-B36B-C6F27A4A3E04}" type="sibTrans" cxnId="{CB0F28CF-A080-4B7F-8D7E-6BAD74D71D82}">
      <dgm:prSet/>
      <dgm:spPr/>
      <dgm:t>
        <a:bodyPr/>
        <a:lstStyle/>
        <a:p>
          <a:endParaRPr lang="en-IN"/>
        </a:p>
      </dgm:t>
    </dgm:pt>
    <dgm:pt modelId="{A3FC8B01-A315-423A-B6A8-497CB7537C33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Basic w2v function &amp; Similarity using w2v</a:t>
          </a:r>
        </a:p>
      </dgm:t>
    </dgm:pt>
    <dgm:pt modelId="{8B0E0B0A-EC01-4520-9C38-DC3440CF1BC2}" type="sibTrans" cxnId="{26F4FD0D-13F1-4C96-AFDB-F9045F818B91}">
      <dgm:prSet/>
      <dgm:spPr/>
      <dgm:t>
        <a:bodyPr/>
        <a:lstStyle/>
        <a:p>
          <a:endParaRPr lang="en-IN"/>
        </a:p>
      </dgm:t>
    </dgm:pt>
    <dgm:pt modelId="{01F17156-9D30-42C3-9242-5D2919E38418}" type="parTrans" cxnId="{26F4FD0D-13F1-4C96-AFDB-F9045F818B91}">
      <dgm:prSet/>
      <dgm:spPr/>
      <dgm:t>
        <a:bodyPr/>
        <a:lstStyle/>
        <a:p>
          <a:endParaRPr lang="en-IN"/>
        </a:p>
      </dgm:t>
    </dgm:pt>
    <dgm:pt modelId="{87B8F9EA-3287-4520-B86C-E8F374AABE44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rgbClr val="00B0F0"/>
        </a:solidFill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   Word2vec properties in </a:t>
          </a:r>
          <a:r>
            <a:rPr lang="en-IN" sz="1600" dirty="0" err="1">
              <a:latin typeface="Calibri" panose="020F0502020204030204" pitchFamily="34" charset="0"/>
              <a:cs typeface="Calibri" panose="020F0502020204030204" pitchFamily="34" charset="0"/>
            </a:rPr>
            <a:t>spaCy</a:t>
          </a:r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</a:p>
      </dgm:t>
    </dgm:pt>
    <dgm:pt modelId="{D00DD9BB-4E3D-468A-BF58-835F8D176E1A}" type="parTrans" cxnId="{3E5C6597-E866-4373-BCD9-93860DF09C5A}">
      <dgm:prSet/>
      <dgm:spPr/>
      <dgm:t>
        <a:bodyPr/>
        <a:lstStyle/>
        <a:p>
          <a:endParaRPr lang="en-US"/>
        </a:p>
      </dgm:t>
    </dgm:pt>
    <dgm:pt modelId="{D1DADF7B-4567-4705-8F68-41684E988F76}" type="sibTrans" cxnId="{3E5C6597-E866-4373-BCD9-93860DF09C5A}">
      <dgm:prSet/>
      <dgm:spPr/>
      <dgm:t>
        <a:bodyPr/>
        <a:lstStyle/>
        <a:p>
          <a:endParaRPr lang="en-US"/>
        </a:p>
      </dgm:t>
    </dgm:pt>
    <dgm:pt modelId="{1C4D2F99-C78D-42C7-80A2-5BA0887E17B1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800" dirty="0">
              <a:latin typeface="Calibri" panose="020F0502020204030204" pitchFamily="34" charset="0"/>
              <a:cs typeface="Calibri" panose="020F0502020204030204" pitchFamily="34" charset="0"/>
            </a:rPr>
            <a:t>Case study</a:t>
          </a:r>
        </a:p>
      </dgm:t>
    </dgm:pt>
    <dgm:pt modelId="{3DF86CA0-27D8-4387-B41B-57787E6E2967}" type="parTrans" cxnId="{3FADC678-B56B-4D1D-A55C-76B8D9057723}">
      <dgm:prSet/>
      <dgm:spPr/>
      <dgm:t>
        <a:bodyPr/>
        <a:lstStyle/>
        <a:p>
          <a:endParaRPr lang="en-US"/>
        </a:p>
      </dgm:t>
    </dgm:pt>
    <dgm:pt modelId="{68612A85-0C7A-4883-AF07-FA3B62E88B78}" type="sibTrans" cxnId="{3FADC678-B56B-4D1D-A55C-76B8D9057723}">
      <dgm:prSet/>
      <dgm:spPr/>
      <dgm:t>
        <a:bodyPr/>
        <a:lstStyle/>
        <a:p>
          <a:endParaRPr lang="en-US"/>
        </a:p>
      </dgm:t>
    </dgm:pt>
    <dgm:pt modelId="{24728E11-E867-4651-96BE-D4610DDC76BA}" type="pres">
      <dgm:prSet presAssocID="{C2AC300D-E27F-4AFB-8385-23A3F3CA89FC}" presName="Name0" presStyleCnt="0">
        <dgm:presLayoutVars>
          <dgm:chMax val="7"/>
          <dgm:chPref val="7"/>
          <dgm:dir/>
        </dgm:presLayoutVars>
      </dgm:prSet>
      <dgm:spPr/>
    </dgm:pt>
    <dgm:pt modelId="{59666C2D-0CBC-4177-9492-0BC7B5E83920}" type="pres">
      <dgm:prSet presAssocID="{C2AC300D-E27F-4AFB-8385-23A3F3CA89FC}" presName="Name1" presStyleCnt="0"/>
      <dgm:spPr/>
    </dgm:pt>
    <dgm:pt modelId="{782150D5-7ADF-412A-B97B-C4A85E15F3EF}" type="pres">
      <dgm:prSet presAssocID="{C2AC300D-E27F-4AFB-8385-23A3F3CA89FC}" presName="cycle" presStyleCnt="0"/>
      <dgm:spPr/>
    </dgm:pt>
    <dgm:pt modelId="{1EBC8B9F-0F17-4377-A441-FE126EC2603D}" type="pres">
      <dgm:prSet presAssocID="{C2AC300D-E27F-4AFB-8385-23A3F3CA89FC}" presName="srcNode" presStyleLbl="node1" presStyleIdx="0" presStyleCnt="5"/>
      <dgm:spPr/>
    </dgm:pt>
    <dgm:pt modelId="{B4DAE58B-27CB-4D22-AABF-50F07E30140A}" type="pres">
      <dgm:prSet presAssocID="{C2AC300D-E27F-4AFB-8385-23A3F3CA89FC}" presName="conn" presStyleLbl="parChTrans1D2" presStyleIdx="0" presStyleCnt="1" custLinFactNeighborX="-42817" custLinFactNeighborY="-1118"/>
      <dgm:spPr/>
    </dgm:pt>
    <dgm:pt modelId="{0CE6508D-66DA-4F48-ABFD-9CEB3707A663}" type="pres">
      <dgm:prSet presAssocID="{C2AC300D-E27F-4AFB-8385-23A3F3CA89FC}" presName="extraNode" presStyleLbl="node1" presStyleIdx="0" presStyleCnt="5"/>
      <dgm:spPr/>
    </dgm:pt>
    <dgm:pt modelId="{2C7897B3-3F08-40FE-87A1-0A1DD86C094E}" type="pres">
      <dgm:prSet presAssocID="{C2AC300D-E27F-4AFB-8385-23A3F3CA89FC}" presName="dstNode" presStyleLbl="node1" presStyleIdx="0" presStyleCnt="5"/>
      <dgm:spPr/>
    </dgm:pt>
    <dgm:pt modelId="{C01C0331-627E-4956-B34C-4FEAB8F0B671}" type="pres">
      <dgm:prSet presAssocID="{D367BE5C-0F3A-4AB0-9359-B776EBBB96E8}" presName="text_1" presStyleLbl="node1" presStyleIdx="0" presStyleCnt="5" custScaleX="104705" custScaleY="110627">
        <dgm:presLayoutVars>
          <dgm:bulletEnabled val="1"/>
        </dgm:presLayoutVars>
      </dgm:prSet>
      <dgm:spPr/>
    </dgm:pt>
    <dgm:pt modelId="{2B23576E-7B02-4486-B322-5ADA70C34A33}" type="pres">
      <dgm:prSet presAssocID="{D367BE5C-0F3A-4AB0-9359-B776EBBB96E8}" presName="accent_1" presStyleCnt="0"/>
      <dgm:spPr/>
    </dgm:pt>
    <dgm:pt modelId="{47DFED79-DB5B-4E8C-B682-A588521A0C1E}" type="pres">
      <dgm:prSet presAssocID="{D367BE5C-0F3A-4AB0-9359-B776EBBB96E8}" presName="accentRepeatNode" presStyleLbl="solidFgAcc1" presStyleIdx="0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</dgm:pt>
    <dgm:pt modelId="{E88317C7-90A2-4C25-9546-9B945D9DCABC}" type="pres">
      <dgm:prSet presAssocID="{A3FC8B01-A315-423A-B6A8-497CB7537C33}" presName="text_2" presStyleLbl="node1" presStyleIdx="1" presStyleCnt="5" custLinFactNeighborX="9114" custLinFactNeighborY="5530">
        <dgm:presLayoutVars>
          <dgm:bulletEnabled val="1"/>
        </dgm:presLayoutVars>
      </dgm:prSet>
      <dgm:spPr/>
    </dgm:pt>
    <dgm:pt modelId="{BB278096-0873-4494-92E4-06B0E36E6A2E}" type="pres">
      <dgm:prSet presAssocID="{A3FC8B01-A315-423A-B6A8-497CB7537C33}" presName="accent_2" presStyleCnt="0"/>
      <dgm:spPr/>
    </dgm:pt>
    <dgm:pt modelId="{E429469F-E2C2-4595-B7EA-348F95B2056B}" type="pres">
      <dgm:prSet presAssocID="{A3FC8B01-A315-423A-B6A8-497CB7537C33}" presName="accentRepeatNode" presStyleLbl="solidFgAcc1" presStyleIdx="1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</dgm:pt>
    <dgm:pt modelId="{1FC4862E-0185-4A9A-9A9C-4349F963D0D7}" type="pres">
      <dgm:prSet presAssocID="{9B1EDC96-EC6A-483A-BED4-686E83E23071}" presName="text_3" presStyleLbl="node1" presStyleIdx="2" presStyleCnt="5" custScaleX="106537">
        <dgm:presLayoutVars>
          <dgm:bulletEnabled val="1"/>
        </dgm:presLayoutVars>
      </dgm:prSet>
      <dgm:spPr/>
    </dgm:pt>
    <dgm:pt modelId="{52B3BEB8-2395-4D79-985B-307706CB31ED}" type="pres">
      <dgm:prSet presAssocID="{9B1EDC96-EC6A-483A-BED4-686E83E23071}" presName="accent_3" presStyleCnt="0"/>
      <dgm:spPr/>
    </dgm:pt>
    <dgm:pt modelId="{D57AE131-E6FE-4A12-A1A0-43665D1C7D63}" type="pres">
      <dgm:prSet presAssocID="{9B1EDC96-EC6A-483A-BED4-686E83E23071}" presName="accentRepeatNode" presStyleLbl="solidFgAcc1" presStyleIdx="2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</dgm:pt>
    <dgm:pt modelId="{1280C9D9-236B-47CE-A4E9-93A47AF7EF7D}" type="pres">
      <dgm:prSet presAssocID="{87B8F9EA-3287-4520-B86C-E8F374AABE44}" presName="text_4" presStyleLbl="node1" presStyleIdx="3" presStyleCnt="5" custScaleX="106826">
        <dgm:presLayoutVars>
          <dgm:bulletEnabled val="1"/>
        </dgm:presLayoutVars>
      </dgm:prSet>
      <dgm:spPr/>
    </dgm:pt>
    <dgm:pt modelId="{E8559CA7-49B0-4F7D-A767-E64EB4EDB3E7}" type="pres">
      <dgm:prSet presAssocID="{87B8F9EA-3287-4520-B86C-E8F374AABE44}" presName="accent_4" presStyleCnt="0"/>
      <dgm:spPr/>
    </dgm:pt>
    <dgm:pt modelId="{9553D612-A85C-486E-B461-6A4C76F01CF5}" type="pres">
      <dgm:prSet presAssocID="{87B8F9EA-3287-4520-B86C-E8F374AABE44}" presName="accentRepeatNode" presStyleLbl="solidFgAcc1" presStyleIdx="3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rgbClr val="00B0F0"/>
        </a:solidFill>
        <a:ln>
          <a:solidFill>
            <a:schemeClr val="bg1"/>
          </a:solidFill>
        </a:ln>
      </dgm:spPr>
    </dgm:pt>
    <dgm:pt modelId="{02C60EB4-86C6-4D5A-9674-6001E5836B87}" type="pres">
      <dgm:prSet presAssocID="{1C4D2F99-C78D-42C7-80A2-5BA0887E17B1}" presName="text_5" presStyleLbl="node1" presStyleIdx="4" presStyleCnt="5" custScaleX="106347">
        <dgm:presLayoutVars>
          <dgm:bulletEnabled val="1"/>
        </dgm:presLayoutVars>
      </dgm:prSet>
      <dgm:spPr/>
    </dgm:pt>
    <dgm:pt modelId="{34851621-2954-4C63-AF8F-290194193FB3}" type="pres">
      <dgm:prSet presAssocID="{1C4D2F99-C78D-42C7-80A2-5BA0887E17B1}" presName="accent_5" presStyleCnt="0"/>
      <dgm:spPr/>
    </dgm:pt>
    <dgm:pt modelId="{CF67B4C3-0D7A-442A-904D-3057A1EF857C}" type="pres">
      <dgm:prSet presAssocID="{1C4D2F99-C78D-42C7-80A2-5BA0887E17B1}" presName="accentRepeatNode" presStyleLbl="solidFgAcc1" presStyleIdx="4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70C0"/>
          </a:solidFill>
        </a:ln>
      </dgm:spPr>
    </dgm:pt>
  </dgm:ptLst>
  <dgm:cxnLst>
    <dgm:cxn modelId="{26F4FD0D-13F1-4C96-AFDB-F9045F818B91}" srcId="{C2AC300D-E27F-4AFB-8385-23A3F3CA89FC}" destId="{A3FC8B01-A315-423A-B6A8-497CB7537C33}" srcOrd="1" destOrd="0" parTransId="{01F17156-9D30-42C3-9242-5D2919E38418}" sibTransId="{8B0E0B0A-EC01-4520-9C38-DC3440CF1BC2}"/>
    <dgm:cxn modelId="{98A17C1E-2D2E-4A7F-A4DF-C7CE8D52E74D}" srcId="{C2AC300D-E27F-4AFB-8385-23A3F3CA89FC}" destId="{D367BE5C-0F3A-4AB0-9359-B776EBBB96E8}" srcOrd="0" destOrd="0" parTransId="{645097FC-E8BC-4765-BFDE-80FFD33C56D2}" sibTransId="{F18B1F0E-8219-4BFA-A849-7B03740D42DD}"/>
    <dgm:cxn modelId="{38F36D61-D459-4002-B9D7-12C1D9C65DA6}" type="presOf" srcId="{C2AC300D-E27F-4AFB-8385-23A3F3CA89FC}" destId="{24728E11-E867-4651-96BE-D4610DDC76BA}" srcOrd="0" destOrd="0" presId="urn:microsoft.com/office/officeart/2008/layout/VerticalCurvedList"/>
    <dgm:cxn modelId="{08E24E4E-19E6-4CB8-952D-DEAEDD6CB718}" type="presOf" srcId="{A3FC8B01-A315-423A-B6A8-497CB7537C33}" destId="{E88317C7-90A2-4C25-9546-9B945D9DCABC}" srcOrd="0" destOrd="0" presId="urn:microsoft.com/office/officeart/2008/layout/VerticalCurvedList"/>
    <dgm:cxn modelId="{3FADC678-B56B-4D1D-A55C-76B8D9057723}" srcId="{C2AC300D-E27F-4AFB-8385-23A3F3CA89FC}" destId="{1C4D2F99-C78D-42C7-80A2-5BA0887E17B1}" srcOrd="4" destOrd="0" parTransId="{3DF86CA0-27D8-4387-B41B-57787E6E2967}" sibTransId="{68612A85-0C7A-4883-AF07-FA3B62E88B78}"/>
    <dgm:cxn modelId="{3E5C6597-E866-4373-BCD9-93860DF09C5A}" srcId="{C2AC300D-E27F-4AFB-8385-23A3F3CA89FC}" destId="{87B8F9EA-3287-4520-B86C-E8F374AABE44}" srcOrd="3" destOrd="0" parTransId="{D00DD9BB-4E3D-468A-BF58-835F8D176E1A}" sibTransId="{D1DADF7B-4567-4705-8F68-41684E988F76}"/>
    <dgm:cxn modelId="{140382B3-F4C6-47C9-991A-9971D8E5CD39}" type="presOf" srcId="{87B8F9EA-3287-4520-B86C-E8F374AABE44}" destId="{1280C9D9-236B-47CE-A4E9-93A47AF7EF7D}" srcOrd="0" destOrd="0" presId="urn:microsoft.com/office/officeart/2008/layout/VerticalCurvedList"/>
    <dgm:cxn modelId="{BC8180BA-13A3-4B6E-B226-B76BE18092A3}" type="presOf" srcId="{D367BE5C-0F3A-4AB0-9359-B776EBBB96E8}" destId="{C01C0331-627E-4956-B34C-4FEAB8F0B671}" srcOrd="0" destOrd="0" presId="urn:microsoft.com/office/officeart/2008/layout/VerticalCurvedList"/>
    <dgm:cxn modelId="{CB0F28CF-A080-4B7F-8D7E-6BAD74D71D82}" srcId="{C2AC300D-E27F-4AFB-8385-23A3F3CA89FC}" destId="{9B1EDC96-EC6A-483A-BED4-686E83E23071}" srcOrd="2" destOrd="0" parTransId="{9175944A-D53D-4B76-B8CC-0CC9B921C6A5}" sibTransId="{08EBC0C5-1C8B-47AF-B36B-C6F27A4A3E04}"/>
    <dgm:cxn modelId="{848FDBD1-079E-408D-8239-7A733CB5E6E8}" type="presOf" srcId="{F18B1F0E-8219-4BFA-A849-7B03740D42DD}" destId="{B4DAE58B-27CB-4D22-AABF-50F07E30140A}" srcOrd="0" destOrd="0" presId="urn:microsoft.com/office/officeart/2008/layout/VerticalCurvedList"/>
    <dgm:cxn modelId="{F5A402DE-80CF-4EC2-86AA-7BD5D3EB0243}" type="presOf" srcId="{1C4D2F99-C78D-42C7-80A2-5BA0887E17B1}" destId="{02C60EB4-86C6-4D5A-9674-6001E5836B87}" srcOrd="0" destOrd="0" presId="urn:microsoft.com/office/officeart/2008/layout/VerticalCurvedList"/>
    <dgm:cxn modelId="{ACB80CF9-81A4-4C26-865B-795D90854554}" type="presOf" srcId="{9B1EDC96-EC6A-483A-BED4-686E83E23071}" destId="{1FC4862E-0185-4A9A-9A9C-4349F963D0D7}" srcOrd="0" destOrd="0" presId="urn:microsoft.com/office/officeart/2008/layout/VerticalCurvedList"/>
    <dgm:cxn modelId="{619A0C01-A365-4A32-92DF-8E3F12603F95}" type="presParOf" srcId="{24728E11-E867-4651-96BE-D4610DDC76BA}" destId="{59666C2D-0CBC-4177-9492-0BC7B5E83920}" srcOrd="0" destOrd="0" presId="urn:microsoft.com/office/officeart/2008/layout/VerticalCurvedList"/>
    <dgm:cxn modelId="{9437C4A3-37EC-4BE4-AA95-76B8E33061A5}" type="presParOf" srcId="{59666C2D-0CBC-4177-9492-0BC7B5E83920}" destId="{782150D5-7ADF-412A-B97B-C4A85E15F3EF}" srcOrd="0" destOrd="0" presId="urn:microsoft.com/office/officeart/2008/layout/VerticalCurvedList"/>
    <dgm:cxn modelId="{8FA73427-1B94-4BBB-BAEB-5F64AD7F1DCD}" type="presParOf" srcId="{782150D5-7ADF-412A-B97B-C4A85E15F3EF}" destId="{1EBC8B9F-0F17-4377-A441-FE126EC2603D}" srcOrd="0" destOrd="0" presId="urn:microsoft.com/office/officeart/2008/layout/VerticalCurvedList"/>
    <dgm:cxn modelId="{25ADAD80-CCF4-4DC0-8A99-8DC83893A2FB}" type="presParOf" srcId="{782150D5-7ADF-412A-B97B-C4A85E15F3EF}" destId="{B4DAE58B-27CB-4D22-AABF-50F07E30140A}" srcOrd="1" destOrd="0" presId="urn:microsoft.com/office/officeart/2008/layout/VerticalCurvedList"/>
    <dgm:cxn modelId="{12958C5F-073C-4EEC-ADF9-55266F9E77DA}" type="presParOf" srcId="{782150D5-7ADF-412A-B97B-C4A85E15F3EF}" destId="{0CE6508D-66DA-4F48-ABFD-9CEB3707A663}" srcOrd="2" destOrd="0" presId="urn:microsoft.com/office/officeart/2008/layout/VerticalCurvedList"/>
    <dgm:cxn modelId="{27AF1D2C-3FFF-4727-BC81-EFCD9BE6FD59}" type="presParOf" srcId="{782150D5-7ADF-412A-B97B-C4A85E15F3EF}" destId="{2C7897B3-3F08-40FE-87A1-0A1DD86C094E}" srcOrd="3" destOrd="0" presId="urn:microsoft.com/office/officeart/2008/layout/VerticalCurvedList"/>
    <dgm:cxn modelId="{28EB1BE6-F9A7-479B-B8B1-B7AF07E0BD55}" type="presParOf" srcId="{59666C2D-0CBC-4177-9492-0BC7B5E83920}" destId="{C01C0331-627E-4956-B34C-4FEAB8F0B671}" srcOrd="1" destOrd="0" presId="urn:microsoft.com/office/officeart/2008/layout/VerticalCurvedList"/>
    <dgm:cxn modelId="{54EBFE62-19EF-410B-B754-57C780963AB9}" type="presParOf" srcId="{59666C2D-0CBC-4177-9492-0BC7B5E83920}" destId="{2B23576E-7B02-4486-B322-5ADA70C34A33}" srcOrd="2" destOrd="0" presId="urn:microsoft.com/office/officeart/2008/layout/VerticalCurvedList"/>
    <dgm:cxn modelId="{8A2F1BA0-DCBE-4615-89F5-54135CDBF45C}" type="presParOf" srcId="{2B23576E-7B02-4486-B322-5ADA70C34A33}" destId="{47DFED79-DB5B-4E8C-B682-A588521A0C1E}" srcOrd="0" destOrd="0" presId="urn:microsoft.com/office/officeart/2008/layout/VerticalCurvedList"/>
    <dgm:cxn modelId="{77CAD933-8DF2-4DD0-A159-0F31AF4E0C7D}" type="presParOf" srcId="{59666C2D-0CBC-4177-9492-0BC7B5E83920}" destId="{E88317C7-90A2-4C25-9546-9B945D9DCABC}" srcOrd="3" destOrd="0" presId="urn:microsoft.com/office/officeart/2008/layout/VerticalCurvedList"/>
    <dgm:cxn modelId="{BB1DCB31-05D3-4646-9DE7-0D288A98EA6D}" type="presParOf" srcId="{59666C2D-0CBC-4177-9492-0BC7B5E83920}" destId="{BB278096-0873-4494-92E4-06B0E36E6A2E}" srcOrd="4" destOrd="0" presId="urn:microsoft.com/office/officeart/2008/layout/VerticalCurvedList"/>
    <dgm:cxn modelId="{6BE8B628-D90C-458D-B12D-31394C556B46}" type="presParOf" srcId="{BB278096-0873-4494-92E4-06B0E36E6A2E}" destId="{E429469F-E2C2-4595-B7EA-348F95B2056B}" srcOrd="0" destOrd="0" presId="urn:microsoft.com/office/officeart/2008/layout/VerticalCurvedList"/>
    <dgm:cxn modelId="{ED728404-1B5F-492A-86CD-22C7C84A21BE}" type="presParOf" srcId="{59666C2D-0CBC-4177-9492-0BC7B5E83920}" destId="{1FC4862E-0185-4A9A-9A9C-4349F963D0D7}" srcOrd="5" destOrd="0" presId="urn:microsoft.com/office/officeart/2008/layout/VerticalCurvedList"/>
    <dgm:cxn modelId="{9B6C424B-F1D6-4313-8EDF-D7E62BA96E6F}" type="presParOf" srcId="{59666C2D-0CBC-4177-9492-0BC7B5E83920}" destId="{52B3BEB8-2395-4D79-985B-307706CB31ED}" srcOrd="6" destOrd="0" presId="urn:microsoft.com/office/officeart/2008/layout/VerticalCurvedList"/>
    <dgm:cxn modelId="{0CF87676-6EFC-46DC-A699-0EEC201CB04F}" type="presParOf" srcId="{52B3BEB8-2395-4D79-985B-307706CB31ED}" destId="{D57AE131-E6FE-4A12-A1A0-43665D1C7D63}" srcOrd="0" destOrd="0" presId="urn:microsoft.com/office/officeart/2008/layout/VerticalCurvedList"/>
    <dgm:cxn modelId="{7738CA3E-9140-4697-87D1-1F043EEC3BC0}" type="presParOf" srcId="{59666C2D-0CBC-4177-9492-0BC7B5E83920}" destId="{1280C9D9-236B-47CE-A4E9-93A47AF7EF7D}" srcOrd="7" destOrd="0" presId="urn:microsoft.com/office/officeart/2008/layout/VerticalCurvedList"/>
    <dgm:cxn modelId="{0A0CC41E-A561-4FF8-A121-DE42C0359915}" type="presParOf" srcId="{59666C2D-0CBC-4177-9492-0BC7B5E83920}" destId="{E8559CA7-49B0-4F7D-A767-E64EB4EDB3E7}" srcOrd="8" destOrd="0" presId="urn:microsoft.com/office/officeart/2008/layout/VerticalCurvedList"/>
    <dgm:cxn modelId="{CE6C73FE-BFDF-4732-A235-9B863D135D2B}" type="presParOf" srcId="{E8559CA7-49B0-4F7D-A767-E64EB4EDB3E7}" destId="{9553D612-A85C-486E-B461-6A4C76F01CF5}" srcOrd="0" destOrd="0" presId="urn:microsoft.com/office/officeart/2008/layout/VerticalCurvedList"/>
    <dgm:cxn modelId="{334361DE-EAA4-4F2D-9468-DC924B80DB97}" type="presParOf" srcId="{59666C2D-0CBC-4177-9492-0BC7B5E83920}" destId="{02C60EB4-86C6-4D5A-9674-6001E5836B87}" srcOrd="9" destOrd="0" presId="urn:microsoft.com/office/officeart/2008/layout/VerticalCurvedList"/>
    <dgm:cxn modelId="{5EC84675-FB32-46AB-87E4-5D498CBD3032}" type="presParOf" srcId="{59666C2D-0CBC-4177-9492-0BC7B5E83920}" destId="{34851621-2954-4C63-AF8F-290194193FB3}" srcOrd="10" destOrd="0" presId="urn:microsoft.com/office/officeart/2008/layout/VerticalCurvedList"/>
    <dgm:cxn modelId="{280FA445-1C23-4817-A9CA-0C40298D67FF}" type="presParOf" srcId="{34851621-2954-4C63-AF8F-290194193FB3}" destId="{CF67B4C3-0D7A-442A-904D-3057A1EF857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2AC300D-E27F-4AFB-8385-23A3F3CA89FC}" type="doc">
      <dgm:prSet loTypeId="urn:microsoft.com/office/officeart/2008/layout/VerticalCurvedList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D367BE5C-0F3A-4AB0-9359-B776EBBB96E8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b="0" dirty="0">
              <a:latin typeface="Calibri" panose="020F0502020204030204" pitchFamily="34" charset="0"/>
              <a:cs typeface="Calibri" panose="020F0502020204030204" pitchFamily="34" charset="0"/>
            </a:rPr>
            <a:t>       Vectorization</a:t>
          </a:r>
        </a:p>
      </dgm:t>
    </dgm:pt>
    <dgm:pt modelId="{645097FC-E8BC-4765-BFDE-80FFD33C56D2}" type="parTrans" cxnId="{98A17C1E-2D2E-4A7F-A4DF-C7CE8D52E74D}">
      <dgm:prSet/>
      <dgm:spPr/>
      <dgm:t>
        <a:bodyPr/>
        <a:lstStyle/>
        <a:p>
          <a:endParaRPr lang="en-IN"/>
        </a:p>
      </dgm:t>
    </dgm:pt>
    <dgm:pt modelId="{F18B1F0E-8219-4BFA-A849-7B03740D42DD}" type="sibTrans" cxnId="{98A17C1E-2D2E-4A7F-A4DF-C7CE8D52E74D}">
      <dgm:prSet/>
      <dgm:spPr/>
      <dgm:t>
        <a:bodyPr/>
        <a:lstStyle/>
        <a:p>
          <a:endParaRPr lang="en-IN"/>
        </a:p>
      </dgm:t>
    </dgm:pt>
    <dgm:pt modelId="{9B1EDC96-EC6A-483A-BED4-686E83E23071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noFill/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Deeper understanding of w2v</a:t>
          </a:r>
        </a:p>
      </dgm:t>
    </dgm:pt>
    <dgm:pt modelId="{9175944A-D53D-4B76-B8CC-0CC9B921C6A5}" type="parTrans" cxnId="{CB0F28CF-A080-4B7F-8D7E-6BAD74D71D82}">
      <dgm:prSet/>
      <dgm:spPr/>
      <dgm:t>
        <a:bodyPr/>
        <a:lstStyle/>
        <a:p>
          <a:endParaRPr lang="en-IN"/>
        </a:p>
      </dgm:t>
    </dgm:pt>
    <dgm:pt modelId="{08EBC0C5-1C8B-47AF-B36B-C6F27A4A3E04}" type="sibTrans" cxnId="{CB0F28CF-A080-4B7F-8D7E-6BAD74D71D82}">
      <dgm:prSet/>
      <dgm:spPr/>
      <dgm:t>
        <a:bodyPr/>
        <a:lstStyle/>
        <a:p>
          <a:endParaRPr lang="en-IN"/>
        </a:p>
      </dgm:t>
    </dgm:pt>
    <dgm:pt modelId="{A3FC8B01-A315-423A-B6A8-497CB7537C33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Basic w2v function &amp; Similarity using w2v</a:t>
          </a:r>
        </a:p>
      </dgm:t>
    </dgm:pt>
    <dgm:pt modelId="{8B0E0B0A-EC01-4520-9C38-DC3440CF1BC2}" type="sibTrans" cxnId="{26F4FD0D-13F1-4C96-AFDB-F9045F818B91}">
      <dgm:prSet/>
      <dgm:spPr/>
      <dgm:t>
        <a:bodyPr/>
        <a:lstStyle/>
        <a:p>
          <a:endParaRPr lang="en-IN"/>
        </a:p>
      </dgm:t>
    </dgm:pt>
    <dgm:pt modelId="{01F17156-9D30-42C3-9242-5D2919E38418}" type="parTrans" cxnId="{26F4FD0D-13F1-4C96-AFDB-F9045F818B91}">
      <dgm:prSet/>
      <dgm:spPr/>
      <dgm:t>
        <a:bodyPr/>
        <a:lstStyle/>
        <a:p>
          <a:endParaRPr lang="en-IN"/>
        </a:p>
      </dgm:t>
    </dgm:pt>
    <dgm:pt modelId="{87B8F9EA-3287-4520-B86C-E8F374AABE44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Word2vec properties in </a:t>
          </a:r>
          <a:r>
            <a:rPr lang="en-IN" sz="1600" dirty="0" err="1">
              <a:latin typeface="Calibri" panose="020F0502020204030204" pitchFamily="34" charset="0"/>
              <a:cs typeface="Calibri" panose="020F0502020204030204" pitchFamily="34" charset="0"/>
            </a:rPr>
            <a:t>spaCy</a:t>
          </a:r>
          <a:r>
            <a:rPr lang="en-IN" sz="16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</a:p>
      </dgm:t>
    </dgm:pt>
    <dgm:pt modelId="{D00DD9BB-4E3D-468A-BF58-835F8D176E1A}" type="parTrans" cxnId="{3E5C6597-E866-4373-BCD9-93860DF09C5A}">
      <dgm:prSet/>
      <dgm:spPr/>
      <dgm:t>
        <a:bodyPr/>
        <a:lstStyle/>
        <a:p>
          <a:endParaRPr lang="en-US"/>
        </a:p>
      </dgm:t>
    </dgm:pt>
    <dgm:pt modelId="{D1DADF7B-4567-4705-8F68-41684E988F76}" type="sibTrans" cxnId="{3E5C6597-E866-4373-BCD9-93860DF09C5A}">
      <dgm:prSet/>
      <dgm:spPr/>
      <dgm:t>
        <a:bodyPr/>
        <a:lstStyle/>
        <a:p>
          <a:endParaRPr lang="en-US"/>
        </a:p>
      </dgm:t>
    </dgm:pt>
    <dgm:pt modelId="{1C4D2F99-C78D-42C7-80A2-5BA0887E17B1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rgbClr val="00B0F0"/>
        </a:solidFill>
        <a:ln>
          <a:solidFill>
            <a:srgbClr val="00B0F0"/>
          </a:solidFill>
        </a:ln>
      </dgm:spPr>
      <dgm:t>
        <a:bodyPr/>
        <a:lstStyle/>
        <a:p>
          <a:pPr rtl="0"/>
          <a:r>
            <a:rPr lang="en-IN" sz="1800" dirty="0">
              <a:latin typeface="Calibri" panose="020F0502020204030204" pitchFamily="34" charset="0"/>
              <a:cs typeface="Calibri" panose="020F0502020204030204" pitchFamily="34" charset="0"/>
            </a:rPr>
            <a:t>      Case study</a:t>
          </a:r>
        </a:p>
      </dgm:t>
    </dgm:pt>
    <dgm:pt modelId="{3DF86CA0-27D8-4387-B41B-57787E6E2967}" type="parTrans" cxnId="{3FADC678-B56B-4D1D-A55C-76B8D9057723}">
      <dgm:prSet/>
      <dgm:spPr/>
      <dgm:t>
        <a:bodyPr/>
        <a:lstStyle/>
        <a:p>
          <a:endParaRPr lang="en-US"/>
        </a:p>
      </dgm:t>
    </dgm:pt>
    <dgm:pt modelId="{68612A85-0C7A-4883-AF07-FA3B62E88B78}" type="sibTrans" cxnId="{3FADC678-B56B-4D1D-A55C-76B8D9057723}">
      <dgm:prSet/>
      <dgm:spPr/>
      <dgm:t>
        <a:bodyPr/>
        <a:lstStyle/>
        <a:p>
          <a:endParaRPr lang="en-US"/>
        </a:p>
      </dgm:t>
    </dgm:pt>
    <dgm:pt modelId="{24728E11-E867-4651-96BE-D4610DDC76BA}" type="pres">
      <dgm:prSet presAssocID="{C2AC300D-E27F-4AFB-8385-23A3F3CA89FC}" presName="Name0" presStyleCnt="0">
        <dgm:presLayoutVars>
          <dgm:chMax val="7"/>
          <dgm:chPref val="7"/>
          <dgm:dir/>
        </dgm:presLayoutVars>
      </dgm:prSet>
      <dgm:spPr/>
    </dgm:pt>
    <dgm:pt modelId="{59666C2D-0CBC-4177-9492-0BC7B5E83920}" type="pres">
      <dgm:prSet presAssocID="{C2AC300D-E27F-4AFB-8385-23A3F3CA89FC}" presName="Name1" presStyleCnt="0"/>
      <dgm:spPr/>
    </dgm:pt>
    <dgm:pt modelId="{782150D5-7ADF-412A-B97B-C4A85E15F3EF}" type="pres">
      <dgm:prSet presAssocID="{C2AC300D-E27F-4AFB-8385-23A3F3CA89FC}" presName="cycle" presStyleCnt="0"/>
      <dgm:spPr/>
    </dgm:pt>
    <dgm:pt modelId="{1EBC8B9F-0F17-4377-A441-FE126EC2603D}" type="pres">
      <dgm:prSet presAssocID="{C2AC300D-E27F-4AFB-8385-23A3F3CA89FC}" presName="srcNode" presStyleLbl="node1" presStyleIdx="0" presStyleCnt="5"/>
      <dgm:spPr/>
    </dgm:pt>
    <dgm:pt modelId="{B4DAE58B-27CB-4D22-AABF-50F07E30140A}" type="pres">
      <dgm:prSet presAssocID="{C2AC300D-E27F-4AFB-8385-23A3F3CA89FC}" presName="conn" presStyleLbl="parChTrans1D2" presStyleIdx="0" presStyleCnt="1" custLinFactNeighborX="-42817" custLinFactNeighborY="-1118"/>
      <dgm:spPr/>
    </dgm:pt>
    <dgm:pt modelId="{0CE6508D-66DA-4F48-ABFD-9CEB3707A663}" type="pres">
      <dgm:prSet presAssocID="{C2AC300D-E27F-4AFB-8385-23A3F3CA89FC}" presName="extraNode" presStyleLbl="node1" presStyleIdx="0" presStyleCnt="5"/>
      <dgm:spPr/>
    </dgm:pt>
    <dgm:pt modelId="{2C7897B3-3F08-40FE-87A1-0A1DD86C094E}" type="pres">
      <dgm:prSet presAssocID="{C2AC300D-E27F-4AFB-8385-23A3F3CA89FC}" presName="dstNode" presStyleLbl="node1" presStyleIdx="0" presStyleCnt="5"/>
      <dgm:spPr/>
    </dgm:pt>
    <dgm:pt modelId="{C01C0331-627E-4956-B34C-4FEAB8F0B671}" type="pres">
      <dgm:prSet presAssocID="{D367BE5C-0F3A-4AB0-9359-B776EBBB96E8}" presName="text_1" presStyleLbl="node1" presStyleIdx="0" presStyleCnt="5" custScaleX="104705" custScaleY="110627">
        <dgm:presLayoutVars>
          <dgm:bulletEnabled val="1"/>
        </dgm:presLayoutVars>
      </dgm:prSet>
      <dgm:spPr/>
    </dgm:pt>
    <dgm:pt modelId="{2B23576E-7B02-4486-B322-5ADA70C34A33}" type="pres">
      <dgm:prSet presAssocID="{D367BE5C-0F3A-4AB0-9359-B776EBBB96E8}" presName="accent_1" presStyleCnt="0"/>
      <dgm:spPr/>
    </dgm:pt>
    <dgm:pt modelId="{47DFED79-DB5B-4E8C-B682-A588521A0C1E}" type="pres">
      <dgm:prSet presAssocID="{D367BE5C-0F3A-4AB0-9359-B776EBBB96E8}" presName="accentRepeatNode" presStyleLbl="solidFgAcc1" presStyleIdx="0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</dgm:pt>
    <dgm:pt modelId="{E88317C7-90A2-4C25-9546-9B945D9DCABC}" type="pres">
      <dgm:prSet presAssocID="{A3FC8B01-A315-423A-B6A8-497CB7537C33}" presName="text_2" presStyleLbl="node1" presStyleIdx="1" presStyleCnt="5" custLinFactNeighborX="9114" custLinFactNeighborY="5530">
        <dgm:presLayoutVars>
          <dgm:bulletEnabled val="1"/>
        </dgm:presLayoutVars>
      </dgm:prSet>
      <dgm:spPr/>
    </dgm:pt>
    <dgm:pt modelId="{BB278096-0873-4494-92E4-06B0E36E6A2E}" type="pres">
      <dgm:prSet presAssocID="{A3FC8B01-A315-423A-B6A8-497CB7537C33}" presName="accent_2" presStyleCnt="0"/>
      <dgm:spPr/>
    </dgm:pt>
    <dgm:pt modelId="{E429469F-E2C2-4595-B7EA-348F95B2056B}" type="pres">
      <dgm:prSet presAssocID="{A3FC8B01-A315-423A-B6A8-497CB7537C33}" presName="accentRepeatNode" presStyleLbl="solidFgAcc1" presStyleIdx="1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</dgm:pt>
    <dgm:pt modelId="{1FC4862E-0185-4A9A-9A9C-4349F963D0D7}" type="pres">
      <dgm:prSet presAssocID="{9B1EDC96-EC6A-483A-BED4-686E83E23071}" presName="text_3" presStyleLbl="node1" presStyleIdx="2" presStyleCnt="5" custScaleX="106537">
        <dgm:presLayoutVars>
          <dgm:bulletEnabled val="1"/>
        </dgm:presLayoutVars>
      </dgm:prSet>
      <dgm:spPr/>
    </dgm:pt>
    <dgm:pt modelId="{52B3BEB8-2395-4D79-985B-307706CB31ED}" type="pres">
      <dgm:prSet presAssocID="{9B1EDC96-EC6A-483A-BED4-686E83E23071}" presName="accent_3" presStyleCnt="0"/>
      <dgm:spPr/>
    </dgm:pt>
    <dgm:pt modelId="{D57AE131-E6FE-4A12-A1A0-43665D1C7D63}" type="pres">
      <dgm:prSet presAssocID="{9B1EDC96-EC6A-483A-BED4-686E83E23071}" presName="accentRepeatNode" presStyleLbl="solidFgAcc1" presStyleIdx="2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  <a:ln>
          <a:solidFill>
            <a:srgbClr val="00B0F0"/>
          </a:solidFill>
        </a:ln>
      </dgm:spPr>
    </dgm:pt>
    <dgm:pt modelId="{1280C9D9-236B-47CE-A4E9-93A47AF7EF7D}" type="pres">
      <dgm:prSet presAssocID="{87B8F9EA-3287-4520-B86C-E8F374AABE44}" presName="text_4" presStyleLbl="node1" presStyleIdx="3" presStyleCnt="5" custScaleX="106826">
        <dgm:presLayoutVars>
          <dgm:bulletEnabled val="1"/>
        </dgm:presLayoutVars>
      </dgm:prSet>
      <dgm:spPr/>
    </dgm:pt>
    <dgm:pt modelId="{E8559CA7-49B0-4F7D-A767-E64EB4EDB3E7}" type="pres">
      <dgm:prSet presAssocID="{87B8F9EA-3287-4520-B86C-E8F374AABE44}" presName="accent_4" presStyleCnt="0"/>
      <dgm:spPr/>
    </dgm:pt>
    <dgm:pt modelId="{9553D612-A85C-486E-B461-6A4C76F01CF5}" type="pres">
      <dgm:prSet presAssocID="{87B8F9EA-3287-4520-B86C-E8F374AABE44}" presName="accentRepeatNode" presStyleLbl="solidFgAcc1" presStyleIdx="3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70C0"/>
          </a:solidFill>
        </a:ln>
      </dgm:spPr>
    </dgm:pt>
    <dgm:pt modelId="{02C60EB4-86C6-4D5A-9674-6001E5836B87}" type="pres">
      <dgm:prSet presAssocID="{1C4D2F99-C78D-42C7-80A2-5BA0887E17B1}" presName="text_5" presStyleLbl="node1" presStyleIdx="4" presStyleCnt="5" custScaleX="106347">
        <dgm:presLayoutVars>
          <dgm:bulletEnabled val="1"/>
        </dgm:presLayoutVars>
      </dgm:prSet>
      <dgm:spPr/>
    </dgm:pt>
    <dgm:pt modelId="{34851621-2954-4C63-AF8F-290194193FB3}" type="pres">
      <dgm:prSet presAssocID="{1C4D2F99-C78D-42C7-80A2-5BA0887E17B1}" presName="accent_5" presStyleCnt="0"/>
      <dgm:spPr/>
    </dgm:pt>
    <dgm:pt modelId="{CF67B4C3-0D7A-442A-904D-3057A1EF857C}" type="pres">
      <dgm:prSet presAssocID="{1C4D2F99-C78D-42C7-80A2-5BA0887E17B1}" presName="accentRepeatNode" presStyleLbl="solidFgAcc1" presStyleIdx="4" presStyleCnt="5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rgbClr val="00B0F0"/>
        </a:solidFill>
        <a:ln>
          <a:solidFill>
            <a:schemeClr val="bg1"/>
          </a:solidFill>
        </a:ln>
      </dgm:spPr>
    </dgm:pt>
  </dgm:ptLst>
  <dgm:cxnLst>
    <dgm:cxn modelId="{26F4FD0D-13F1-4C96-AFDB-F9045F818B91}" srcId="{C2AC300D-E27F-4AFB-8385-23A3F3CA89FC}" destId="{A3FC8B01-A315-423A-B6A8-497CB7537C33}" srcOrd="1" destOrd="0" parTransId="{01F17156-9D30-42C3-9242-5D2919E38418}" sibTransId="{8B0E0B0A-EC01-4520-9C38-DC3440CF1BC2}"/>
    <dgm:cxn modelId="{98A17C1E-2D2E-4A7F-A4DF-C7CE8D52E74D}" srcId="{C2AC300D-E27F-4AFB-8385-23A3F3CA89FC}" destId="{D367BE5C-0F3A-4AB0-9359-B776EBBB96E8}" srcOrd="0" destOrd="0" parTransId="{645097FC-E8BC-4765-BFDE-80FFD33C56D2}" sibTransId="{F18B1F0E-8219-4BFA-A849-7B03740D42DD}"/>
    <dgm:cxn modelId="{38F36D61-D459-4002-B9D7-12C1D9C65DA6}" type="presOf" srcId="{C2AC300D-E27F-4AFB-8385-23A3F3CA89FC}" destId="{24728E11-E867-4651-96BE-D4610DDC76BA}" srcOrd="0" destOrd="0" presId="urn:microsoft.com/office/officeart/2008/layout/VerticalCurvedList"/>
    <dgm:cxn modelId="{08E24E4E-19E6-4CB8-952D-DEAEDD6CB718}" type="presOf" srcId="{A3FC8B01-A315-423A-B6A8-497CB7537C33}" destId="{E88317C7-90A2-4C25-9546-9B945D9DCABC}" srcOrd="0" destOrd="0" presId="urn:microsoft.com/office/officeart/2008/layout/VerticalCurvedList"/>
    <dgm:cxn modelId="{3FADC678-B56B-4D1D-A55C-76B8D9057723}" srcId="{C2AC300D-E27F-4AFB-8385-23A3F3CA89FC}" destId="{1C4D2F99-C78D-42C7-80A2-5BA0887E17B1}" srcOrd="4" destOrd="0" parTransId="{3DF86CA0-27D8-4387-B41B-57787E6E2967}" sibTransId="{68612A85-0C7A-4883-AF07-FA3B62E88B78}"/>
    <dgm:cxn modelId="{3E5C6597-E866-4373-BCD9-93860DF09C5A}" srcId="{C2AC300D-E27F-4AFB-8385-23A3F3CA89FC}" destId="{87B8F9EA-3287-4520-B86C-E8F374AABE44}" srcOrd="3" destOrd="0" parTransId="{D00DD9BB-4E3D-468A-BF58-835F8D176E1A}" sibTransId="{D1DADF7B-4567-4705-8F68-41684E988F76}"/>
    <dgm:cxn modelId="{140382B3-F4C6-47C9-991A-9971D8E5CD39}" type="presOf" srcId="{87B8F9EA-3287-4520-B86C-E8F374AABE44}" destId="{1280C9D9-236B-47CE-A4E9-93A47AF7EF7D}" srcOrd="0" destOrd="0" presId="urn:microsoft.com/office/officeart/2008/layout/VerticalCurvedList"/>
    <dgm:cxn modelId="{BC8180BA-13A3-4B6E-B226-B76BE18092A3}" type="presOf" srcId="{D367BE5C-0F3A-4AB0-9359-B776EBBB96E8}" destId="{C01C0331-627E-4956-B34C-4FEAB8F0B671}" srcOrd="0" destOrd="0" presId="urn:microsoft.com/office/officeart/2008/layout/VerticalCurvedList"/>
    <dgm:cxn modelId="{CB0F28CF-A080-4B7F-8D7E-6BAD74D71D82}" srcId="{C2AC300D-E27F-4AFB-8385-23A3F3CA89FC}" destId="{9B1EDC96-EC6A-483A-BED4-686E83E23071}" srcOrd="2" destOrd="0" parTransId="{9175944A-D53D-4B76-B8CC-0CC9B921C6A5}" sibTransId="{08EBC0C5-1C8B-47AF-B36B-C6F27A4A3E04}"/>
    <dgm:cxn modelId="{848FDBD1-079E-408D-8239-7A733CB5E6E8}" type="presOf" srcId="{F18B1F0E-8219-4BFA-A849-7B03740D42DD}" destId="{B4DAE58B-27CB-4D22-AABF-50F07E30140A}" srcOrd="0" destOrd="0" presId="urn:microsoft.com/office/officeart/2008/layout/VerticalCurvedList"/>
    <dgm:cxn modelId="{F5A402DE-80CF-4EC2-86AA-7BD5D3EB0243}" type="presOf" srcId="{1C4D2F99-C78D-42C7-80A2-5BA0887E17B1}" destId="{02C60EB4-86C6-4D5A-9674-6001E5836B87}" srcOrd="0" destOrd="0" presId="urn:microsoft.com/office/officeart/2008/layout/VerticalCurvedList"/>
    <dgm:cxn modelId="{ACB80CF9-81A4-4C26-865B-795D90854554}" type="presOf" srcId="{9B1EDC96-EC6A-483A-BED4-686E83E23071}" destId="{1FC4862E-0185-4A9A-9A9C-4349F963D0D7}" srcOrd="0" destOrd="0" presId="urn:microsoft.com/office/officeart/2008/layout/VerticalCurvedList"/>
    <dgm:cxn modelId="{619A0C01-A365-4A32-92DF-8E3F12603F95}" type="presParOf" srcId="{24728E11-E867-4651-96BE-D4610DDC76BA}" destId="{59666C2D-0CBC-4177-9492-0BC7B5E83920}" srcOrd="0" destOrd="0" presId="urn:microsoft.com/office/officeart/2008/layout/VerticalCurvedList"/>
    <dgm:cxn modelId="{9437C4A3-37EC-4BE4-AA95-76B8E33061A5}" type="presParOf" srcId="{59666C2D-0CBC-4177-9492-0BC7B5E83920}" destId="{782150D5-7ADF-412A-B97B-C4A85E15F3EF}" srcOrd="0" destOrd="0" presId="urn:microsoft.com/office/officeart/2008/layout/VerticalCurvedList"/>
    <dgm:cxn modelId="{8FA73427-1B94-4BBB-BAEB-5F64AD7F1DCD}" type="presParOf" srcId="{782150D5-7ADF-412A-B97B-C4A85E15F3EF}" destId="{1EBC8B9F-0F17-4377-A441-FE126EC2603D}" srcOrd="0" destOrd="0" presId="urn:microsoft.com/office/officeart/2008/layout/VerticalCurvedList"/>
    <dgm:cxn modelId="{25ADAD80-CCF4-4DC0-8A99-8DC83893A2FB}" type="presParOf" srcId="{782150D5-7ADF-412A-B97B-C4A85E15F3EF}" destId="{B4DAE58B-27CB-4D22-AABF-50F07E30140A}" srcOrd="1" destOrd="0" presId="urn:microsoft.com/office/officeart/2008/layout/VerticalCurvedList"/>
    <dgm:cxn modelId="{12958C5F-073C-4EEC-ADF9-55266F9E77DA}" type="presParOf" srcId="{782150D5-7ADF-412A-B97B-C4A85E15F3EF}" destId="{0CE6508D-66DA-4F48-ABFD-9CEB3707A663}" srcOrd="2" destOrd="0" presId="urn:microsoft.com/office/officeart/2008/layout/VerticalCurvedList"/>
    <dgm:cxn modelId="{27AF1D2C-3FFF-4727-BC81-EFCD9BE6FD59}" type="presParOf" srcId="{782150D5-7ADF-412A-B97B-C4A85E15F3EF}" destId="{2C7897B3-3F08-40FE-87A1-0A1DD86C094E}" srcOrd="3" destOrd="0" presId="urn:microsoft.com/office/officeart/2008/layout/VerticalCurvedList"/>
    <dgm:cxn modelId="{28EB1BE6-F9A7-479B-B8B1-B7AF07E0BD55}" type="presParOf" srcId="{59666C2D-0CBC-4177-9492-0BC7B5E83920}" destId="{C01C0331-627E-4956-B34C-4FEAB8F0B671}" srcOrd="1" destOrd="0" presId="urn:microsoft.com/office/officeart/2008/layout/VerticalCurvedList"/>
    <dgm:cxn modelId="{54EBFE62-19EF-410B-B754-57C780963AB9}" type="presParOf" srcId="{59666C2D-0CBC-4177-9492-0BC7B5E83920}" destId="{2B23576E-7B02-4486-B322-5ADA70C34A33}" srcOrd="2" destOrd="0" presId="urn:microsoft.com/office/officeart/2008/layout/VerticalCurvedList"/>
    <dgm:cxn modelId="{8A2F1BA0-DCBE-4615-89F5-54135CDBF45C}" type="presParOf" srcId="{2B23576E-7B02-4486-B322-5ADA70C34A33}" destId="{47DFED79-DB5B-4E8C-B682-A588521A0C1E}" srcOrd="0" destOrd="0" presId="urn:microsoft.com/office/officeart/2008/layout/VerticalCurvedList"/>
    <dgm:cxn modelId="{77CAD933-8DF2-4DD0-A159-0F31AF4E0C7D}" type="presParOf" srcId="{59666C2D-0CBC-4177-9492-0BC7B5E83920}" destId="{E88317C7-90A2-4C25-9546-9B945D9DCABC}" srcOrd="3" destOrd="0" presId="urn:microsoft.com/office/officeart/2008/layout/VerticalCurvedList"/>
    <dgm:cxn modelId="{BB1DCB31-05D3-4646-9DE7-0D288A98EA6D}" type="presParOf" srcId="{59666C2D-0CBC-4177-9492-0BC7B5E83920}" destId="{BB278096-0873-4494-92E4-06B0E36E6A2E}" srcOrd="4" destOrd="0" presId="urn:microsoft.com/office/officeart/2008/layout/VerticalCurvedList"/>
    <dgm:cxn modelId="{6BE8B628-D90C-458D-B12D-31394C556B46}" type="presParOf" srcId="{BB278096-0873-4494-92E4-06B0E36E6A2E}" destId="{E429469F-E2C2-4595-B7EA-348F95B2056B}" srcOrd="0" destOrd="0" presId="urn:microsoft.com/office/officeart/2008/layout/VerticalCurvedList"/>
    <dgm:cxn modelId="{ED728404-1B5F-492A-86CD-22C7C84A21BE}" type="presParOf" srcId="{59666C2D-0CBC-4177-9492-0BC7B5E83920}" destId="{1FC4862E-0185-4A9A-9A9C-4349F963D0D7}" srcOrd="5" destOrd="0" presId="urn:microsoft.com/office/officeart/2008/layout/VerticalCurvedList"/>
    <dgm:cxn modelId="{9B6C424B-F1D6-4313-8EDF-D7E62BA96E6F}" type="presParOf" srcId="{59666C2D-0CBC-4177-9492-0BC7B5E83920}" destId="{52B3BEB8-2395-4D79-985B-307706CB31ED}" srcOrd="6" destOrd="0" presId="urn:microsoft.com/office/officeart/2008/layout/VerticalCurvedList"/>
    <dgm:cxn modelId="{0CF87676-6EFC-46DC-A699-0EEC201CB04F}" type="presParOf" srcId="{52B3BEB8-2395-4D79-985B-307706CB31ED}" destId="{D57AE131-E6FE-4A12-A1A0-43665D1C7D63}" srcOrd="0" destOrd="0" presId="urn:microsoft.com/office/officeart/2008/layout/VerticalCurvedList"/>
    <dgm:cxn modelId="{7738CA3E-9140-4697-87D1-1F043EEC3BC0}" type="presParOf" srcId="{59666C2D-0CBC-4177-9492-0BC7B5E83920}" destId="{1280C9D9-236B-47CE-A4E9-93A47AF7EF7D}" srcOrd="7" destOrd="0" presId="urn:microsoft.com/office/officeart/2008/layout/VerticalCurvedList"/>
    <dgm:cxn modelId="{0A0CC41E-A561-4FF8-A121-DE42C0359915}" type="presParOf" srcId="{59666C2D-0CBC-4177-9492-0BC7B5E83920}" destId="{E8559CA7-49B0-4F7D-A767-E64EB4EDB3E7}" srcOrd="8" destOrd="0" presId="urn:microsoft.com/office/officeart/2008/layout/VerticalCurvedList"/>
    <dgm:cxn modelId="{CE6C73FE-BFDF-4732-A235-9B863D135D2B}" type="presParOf" srcId="{E8559CA7-49B0-4F7D-A767-E64EB4EDB3E7}" destId="{9553D612-A85C-486E-B461-6A4C76F01CF5}" srcOrd="0" destOrd="0" presId="urn:microsoft.com/office/officeart/2008/layout/VerticalCurvedList"/>
    <dgm:cxn modelId="{334361DE-EAA4-4F2D-9468-DC924B80DB97}" type="presParOf" srcId="{59666C2D-0CBC-4177-9492-0BC7B5E83920}" destId="{02C60EB4-86C6-4D5A-9674-6001E5836B87}" srcOrd="9" destOrd="0" presId="urn:microsoft.com/office/officeart/2008/layout/VerticalCurvedList"/>
    <dgm:cxn modelId="{5EC84675-FB32-46AB-87E4-5D498CBD3032}" type="presParOf" srcId="{59666C2D-0CBC-4177-9492-0BC7B5E83920}" destId="{34851621-2954-4C63-AF8F-290194193FB3}" srcOrd="10" destOrd="0" presId="urn:microsoft.com/office/officeart/2008/layout/VerticalCurvedList"/>
    <dgm:cxn modelId="{280FA445-1C23-4817-A9CA-0C40298D67FF}" type="presParOf" srcId="{34851621-2954-4C63-AF8F-290194193FB3}" destId="{CF67B4C3-0D7A-442A-904D-3057A1EF857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AE58B-27CB-4D22-AABF-50F07E30140A}">
      <dsp:nvSpPr>
        <dsp:cNvPr id="0" name=""/>
        <dsp:cNvSpPr/>
      </dsp:nvSpPr>
      <dsp:spPr>
        <a:xfrm>
          <a:off x="-6048973" y="-994181"/>
          <a:ext cx="7115481" cy="7115481"/>
        </a:xfrm>
        <a:prstGeom prst="blockArc">
          <a:avLst>
            <a:gd name="adj1" fmla="val 18900000"/>
            <a:gd name="adj2" fmla="val 2700000"/>
            <a:gd name="adj3" fmla="val 304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1C0331-627E-4956-B34C-4FEAB8F0B671}">
      <dsp:nvSpPr>
        <dsp:cNvPr id="0" name=""/>
        <dsp:cNvSpPr/>
      </dsp:nvSpPr>
      <dsp:spPr>
        <a:xfrm>
          <a:off x="319130" y="295161"/>
          <a:ext cx="4740487" cy="731232"/>
        </a:xfrm>
        <a:prstGeom prst="rect">
          <a:avLst/>
        </a:prstGeom>
        <a:solidFill>
          <a:srgbClr val="00B0F0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      Vectorization</a:t>
          </a:r>
        </a:p>
      </dsp:txBody>
      <dsp:txXfrm>
        <a:off x="319130" y="295161"/>
        <a:ext cx="4740487" cy="731232"/>
      </dsp:txXfrm>
    </dsp:sp>
    <dsp:sp modelId="{47DFED79-DB5B-4E8C-B682-A588521A0C1E}">
      <dsp:nvSpPr>
        <dsp:cNvPr id="0" name=""/>
        <dsp:cNvSpPr/>
      </dsp:nvSpPr>
      <dsp:spPr>
        <a:xfrm>
          <a:off x="12521" y="247659"/>
          <a:ext cx="826236" cy="826236"/>
        </a:xfrm>
        <a:prstGeom prst="ellipse">
          <a:avLst/>
        </a:prstGeom>
        <a:solidFill>
          <a:srgbClr val="00B0F0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E88317C7-90A2-4C25-9546-9B945D9DCABC}">
      <dsp:nvSpPr>
        <dsp:cNvPr id="0" name=""/>
        <dsp:cNvSpPr/>
      </dsp:nvSpPr>
      <dsp:spPr>
        <a:xfrm>
          <a:off x="1045614" y="1358002"/>
          <a:ext cx="4053824" cy="660989"/>
        </a:xfrm>
        <a:prstGeom prst="rect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Basic w2v function &amp; Similarity using w2v</a:t>
          </a:r>
        </a:p>
      </dsp:txBody>
      <dsp:txXfrm>
        <a:off x="1045614" y="1358002"/>
        <a:ext cx="4053824" cy="660989"/>
      </dsp:txXfrm>
    </dsp:sp>
    <dsp:sp modelId="{E429469F-E2C2-4595-B7EA-348F95B2056B}">
      <dsp:nvSpPr>
        <dsp:cNvPr id="0" name=""/>
        <dsp:cNvSpPr/>
      </dsp:nvSpPr>
      <dsp:spPr>
        <a:xfrm>
          <a:off x="486166" y="1238825"/>
          <a:ext cx="826236" cy="826236"/>
        </a:xfrm>
        <a:prstGeom prst="ellipse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1FC4862E-0185-4A9A-9A9C-4349F963D0D7}">
      <dsp:nvSpPr>
        <dsp:cNvPr id="0" name=""/>
        <dsp:cNvSpPr/>
      </dsp:nvSpPr>
      <dsp:spPr>
        <a:xfrm>
          <a:off x="916907" y="2312615"/>
          <a:ext cx="4163949" cy="660989"/>
        </a:xfrm>
        <a:prstGeom prst="rect">
          <a:avLst/>
        </a:prstGeom>
        <a:noFill/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    Deeper understanding of w2v</a:t>
          </a:r>
        </a:p>
      </dsp:txBody>
      <dsp:txXfrm>
        <a:off x="916907" y="2312615"/>
        <a:ext cx="4163949" cy="660989"/>
      </dsp:txXfrm>
    </dsp:sp>
    <dsp:sp modelId="{D57AE131-E6FE-4A12-A1A0-43665D1C7D63}">
      <dsp:nvSpPr>
        <dsp:cNvPr id="0" name=""/>
        <dsp:cNvSpPr/>
      </dsp:nvSpPr>
      <dsp:spPr>
        <a:xfrm>
          <a:off x="631537" y="2229992"/>
          <a:ext cx="826236" cy="826236"/>
        </a:xfrm>
        <a:prstGeom prst="ellipse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1280C9D9-236B-47CE-A4E9-93A47AF7EF7D}">
      <dsp:nvSpPr>
        <dsp:cNvPr id="0" name=""/>
        <dsp:cNvSpPr/>
      </dsp:nvSpPr>
      <dsp:spPr>
        <a:xfrm>
          <a:off x="760927" y="3303782"/>
          <a:ext cx="4330538" cy="660989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     Word2vec properties in </a:t>
          </a:r>
          <a:r>
            <a:rPr lang="en-IN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spaCy</a:t>
          </a: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</a:p>
      </dsp:txBody>
      <dsp:txXfrm>
        <a:off x="760927" y="3303782"/>
        <a:ext cx="4330538" cy="660989"/>
      </dsp:txXfrm>
    </dsp:sp>
    <dsp:sp modelId="{9553D612-A85C-486E-B461-6A4C76F01CF5}">
      <dsp:nvSpPr>
        <dsp:cNvPr id="0" name=""/>
        <dsp:cNvSpPr/>
      </dsp:nvSpPr>
      <dsp:spPr>
        <a:xfrm>
          <a:off x="486166" y="3221158"/>
          <a:ext cx="826236" cy="826236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02C60EB4-86C6-4D5A-9674-6001E5836B87}">
      <dsp:nvSpPr>
        <dsp:cNvPr id="0" name=""/>
        <dsp:cNvSpPr/>
      </dsp:nvSpPr>
      <dsp:spPr>
        <a:xfrm>
          <a:off x="281959" y="4294948"/>
          <a:ext cx="4814828" cy="660989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Calibri" panose="020F0502020204030204" pitchFamily="34" charset="0"/>
              <a:cs typeface="Calibri" panose="020F0502020204030204" pitchFamily="34" charset="0"/>
            </a:rPr>
            <a:t>Case study</a:t>
          </a:r>
        </a:p>
      </dsp:txBody>
      <dsp:txXfrm>
        <a:off x="281959" y="4294948"/>
        <a:ext cx="4814828" cy="660989"/>
      </dsp:txXfrm>
    </dsp:sp>
    <dsp:sp modelId="{CF67B4C3-0D7A-442A-904D-3057A1EF857C}">
      <dsp:nvSpPr>
        <dsp:cNvPr id="0" name=""/>
        <dsp:cNvSpPr/>
      </dsp:nvSpPr>
      <dsp:spPr>
        <a:xfrm>
          <a:off x="12521" y="4212325"/>
          <a:ext cx="826236" cy="826236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AE58B-27CB-4D22-AABF-50F07E30140A}">
      <dsp:nvSpPr>
        <dsp:cNvPr id="0" name=""/>
        <dsp:cNvSpPr/>
      </dsp:nvSpPr>
      <dsp:spPr>
        <a:xfrm>
          <a:off x="-6048973" y="-994181"/>
          <a:ext cx="7115481" cy="7115481"/>
        </a:xfrm>
        <a:prstGeom prst="blockArc">
          <a:avLst>
            <a:gd name="adj1" fmla="val 18900000"/>
            <a:gd name="adj2" fmla="val 2700000"/>
            <a:gd name="adj3" fmla="val 304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1C0331-627E-4956-B34C-4FEAB8F0B671}">
      <dsp:nvSpPr>
        <dsp:cNvPr id="0" name=""/>
        <dsp:cNvSpPr/>
      </dsp:nvSpPr>
      <dsp:spPr>
        <a:xfrm>
          <a:off x="319130" y="295161"/>
          <a:ext cx="4740487" cy="731232"/>
        </a:xfrm>
        <a:prstGeom prst="rect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      Vectorization</a:t>
          </a:r>
        </a:p>
      </dsp:txBody>
      <dsp:txXfrm>
        <a:off x="319130" y="295161"/>
        <a:ext cx="4740487" cy="731232"/>
      </dsp:txXfrm>
    </dsp:sp>
    <dsp:sp modelId="{47DFED79-DB5B-4E8C-B682-A588521A0C1E}">
      <dsp:nvSpPr>
        <dsp:cNvPr id="0" name=""/>
        <dsp:cNvSpPr/>
      </dsp:nvSpPr>
      <dsp:spPr>
        <a:xfrm>
          <a:off x="12521" y="247659"/>
          <a:ext cx="826236" cy="826236"/>
        </a:xfrm>
        <a:prstGeom prst="ellipse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E88317C7-90A2-4C25-9546-9B945D9DCABC}">
      <dsp:nvSpPr>
        <dsp:cNvPr id="0" name=""/>
        <dsp:cNvSpPr/>
      </dsp:nvSpPr>
      <dsp:spPr>
        <a:xfrm>
          <a:off x="1045614" y="1358002"/>
          <a:ext cx="4053824" cy="660989"/>
        </a:xfrm>
        <a:prstGeom prst="rect">
          <a:avLst/>
        </a:prstGeom>
        <a:solidFill>
          <a:srgbClr val="00B0F0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Basic w2v function &amp; Similarity using w2v</a:t>
          </a:r>
        </a:p>
      </dsp:txBody>
      <dsp:txXfrm>
        <a:off x="1045614" y="1358002"/>
        <a:ext cx="4053824" cy="660989"/>
      </dsp:txXfrm>
    </dsp:sp>
    <dsp:sp modelId="{E429469F-E2C2-4595-B7EA-348F95B2056B}">
      <dsp:nvSpPr>
        <dsp:cNvPr id="0" name=""/>
        <dsp:cNvSpPr/>
      </dsp:nvSpPr>
      <dsp:spPr>
        <a:xfrm>
          <a:off x="486166" y="1238825"/>
          <a:ext cx="826236" cy="826236"/>
        </a:xfrm>
        <a:prstGeom prst="ellipse">
          <a:avLst/>
        </a:prstGeom>
        <a:solidFill>
          <a:srgbClr val="00B0F0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1FC4862E-0185-4A9A-9A9C-4349F963D0D7}">
      <dsp:nvSpPr>
        <dsp:cNvPr id="0" name=""/>
        <dsp:cNvSpPr/>
      </dsp:nvSpPr>
      <dsp:spPr>
        <a:xfrm>
          <a:off x="916907" y="2312615"/>
          <a:ext cx="4163949" cy="660989"/>
        </a:xfrm>
        <a:prstGeom prst="rect">
          <a:avLst/>
        </a:prstGeom>
        <a:noFill/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Deeper understanding of w2v</a:t>
          </a:r>
        </a:p>
      </dsp:txBody>
      <dsp:txXfrm>
        <a:off x="916907" y="2312615"/>
        <a:ext cx="4163949" cy="660989"/>
      </dsp:txXfrm>
    </dsp:sp>
    <dsp:sp modelId="{D57AE131-E6FE-4A12-A1A0-43665D1C7D63}">
      <dsp:nvSpPr>
        <dsp:cNvPr id="0" name=""/>
        <dsp:cNvSpPr/>
      </dsp:nvSpPr>
      <dsp:spPr>
        <a:xfrm>
          <a:off x="631537" y="2229992"/>
          <a:ext cx="826236" cy="826236"/>
        </a:xfrm>
        <a:prstGeom prst="ellipse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1280C9D9-236B-47CE-A4E9-93A47AF7EF7D}">
      <dsp:nvSpPr>
        <dsp:cNvPr id="0" name=""/>
        <dsp:cNvSpPr/>
      </dsp:nvSpPr>
      <dsp:spPr>
        <a:xfrm>
          <a:off x="760927" y="3303782"/>
          <a:ext cx="4330538" cy="660989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Word2vec properties in </a:t>
          </a:r>
          <a:r>
            <a:rPr lang="en-IN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spaCy</a:t>
          </a: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</a:p>
      </dsp:txBody>
      <dsp:txXfrm>
        <a:off x="760927" y="3303782"/>
        <a:ext cx="4330538" cy="660989"/>
      </dsp:txXfrm>
    </dsp:sp>
    <dsp:sp modelId="{9553D612-A85C-486E-B461-6A4C76F01CF5}">
      <dsp:nvSpPr>
        <dsp:cNvPr id="0" name=""/>
        <dsp:cNvSpPr/>
      </dsp:nvSpPr>
      <dsp:spPr>
        <a:xfrm>
          <a:off x="486166" y="3221158"/>
          <a:ext cx="826236" cy="826236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02C60EB4-86C6-4D5A-9674-6001E5836B87}">
      <dsp:nvSpPr>
        <dsp:cNvPr id="0" name=""/>
        <dsp:cNvSpPr/>
      </dsp:nvSpPr>
      <dsp:spPr>
        <a:xfrm>
          <a:off x="281959" y="4294948"/>
          <a:ext cx="4814828" cy="660989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Calibri" panose="020F0502020204030204" pitchFamily="34" charset="0"/>
              <a:cs typeface="Calibri" panose="020F0502020204030204" pitchFamily="34" charset="0"/>
            </a:rPr>
            <a:t>Case study</a:t>
          </a:r>
        </a:p>
      </dsp:txBody>
      <dsp:txXfrm>
        <a:off x="281959" y="4294948"/>
        <a:ext cx="4814828" cy="660989"/>
      </dsp:txXfrm>
    </dsp:sp>
    <dsp:sp modelId="{CF67B4C3-0D7A-442A-904D-3057A1EF857C}">
      <dsp:nvSpPr>
        <dsp:cNvPr id="0" name=""/>
        <dsp:cNvSpPr/>
      </dsp:nvSpPr>
      <dsp:spPr>
        <a:xfrm>
          <a:off x="12521" y="4212325"/>
          <a:ext cx="826236" cy="826236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AE58B-27CB-4D22-AABF-50F07E30140A}">
      <dsp:nvSpPr>
        <dsp:cNvPr id="0" name=""/>
        <dsp:cNvSpPr/>
      </dsp:nvSpPr>
      <dsp:spPr>
        <a:xfrm>
          <a:off x="-6048973" y="-994181"/>
          <a:ext cx="7115481" cy="7115481"/>
        </a:xfrm>
        <a:prstGeom prst="blockArc">
          <a:avLst>
            <a:gd name="adj1" fmla="val 18900000"/>
            <a:gd name="adj2" fmla="val 2700000"/>
            <a:gd name="adj3" fmla="val 304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1C0331-627E-4956-B34C-4FEAB8F0B671}">
      <dsp:nvSpPr>
        <dsp:cNvPr id="0" name=""/>
        <dsp:cNvSpPr/>
      </dsp:nvSpPr>
      <dsp:spPr>
        <a:xfrm>
          <a:off x="319130" y="295161"/>
          <a:ext cx="4740487" cy="731232"/>
        </a:xfrm>
        <a:prstGeom prst="rect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      Vectorization</a:t>
          </a:r>
        </a:p>
      </dsp:txBody>
      <dsp:txXfrm>
        <a:off x="319130" y="295161"/>
        <a:ext cx="4740487" cy="731232"/>
      </dsp:txXfrm>
    </dsp:sp>
    <dsp:sp modelId="{47DFED79-DB5B-4E8C-B682-A588521A0C1E}">
      <dsp:nvSpPr>
        <dsp:cNvPr id="0" name=""/>
        <dsp:cNvSpPr/>
      </dsp:nvSpPr>
      <dsp:spPr>
        <a:xfrm>
          <a:off x="12521" y="247659"/>
          <a:ext cx="826236" cy="826236"/>
        </a:xfrm>
        <a:prstGeom prst="ellipse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E88317C7-90A2-4C25-9546-9B945D9DCABC}">
      <dsp:nvSpPr>
        <dsp:cNvPr id="0" name=""/>
        <dsp:cNvSpPr/>
      </dsp:nvSpPr>
      <dsp:spPr>
        <a:xfrm>
          <a:off x="1045614" y="1358002"/>
          <a:ext cx="4053824" cy="660989"/>
        </a:xfrm>
        <a:prstGeom prst="rect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Basic w2v function &amp; Similarity using w2v</a:t>
          </a:r>
        </a:p>
      </dsp:txBody>
      <dsp:txXfrm>
        <a:off x="1045614" y="1358002"/>
        <a:ext cx="4053824" cy="660989"/>
      </dsp:txXfrm>
    </dsp:sp>
    <dsp:sp modelId="{E429469F-E2C2-4595-B7EA-348F95B2056B}">
      <dsp:nvSpPr>
        <dsp:cNvPr id="0" name=""/>
        <dsp:cNvSpPr/>
      </dsp:nvSpPr>
      <dsp:spPr>
        <a:xfrm>
          <a:off x="486166" y="1238825"/>
          <a:ext cx="826236" cy="826236"/>
        </a:xfrm>
        <a:prstGeom prst="ellipse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1FC4862E-0185-4A9A-9A9C-4349F963D0D7}">
      <dsp:nvSpPr>
        <dsp:cNvPr id="0" name=""/>
        <dsp:cNvSpPr/>
      </dsp:nvSpPr>
      <dsp:spPr>
        <a:xfrm>
          <a:off x="916907" y="2312615"/>
          <a:ext cx="4163949" cy="660989"/>
        </a:xfrm>
        <a:prstGeom prst="rect">
          <a:avLst/>
        </a:prstGeom>
        <a:solidFill>
          <a:srgbClr val="00B0F0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    Deeper understanding of w2v</a:t>
          </a:r>
        </a:p>
      </dsp:txBody>
      <dsp:txXfrm>
        <a:off x="916907" y="2312615"/>
        <a:ext cx="4163949" cy="660989"/>
      </dsp:txXfrm>
    </dsp:sp>
    <dsp:sp modelId="{D57AE131-E6FE-4A12-A1A0-43665D1C7D63}">
      <dsp:nvSpPr>
        <dsp:cNvPr id="0" name=""/>
        <dsp:cNvSpPr/>
      </dsp:nvSpPr>
      <dsp:spPr>
        <a:xfrm>
          <a:off x="631537" y="2229992"/>
          <a:ext cx="826236" cy="826236"/>
        </a:xfrm>
        <a:prstGeom prst="ellipse">
          <a:avLst/>
        </a:prstGeom>
        <a:solidFill>
          <a:srgbClr val="00B0F0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1280C9D9-236B-47CE-A4E9-93A47AF7EF7D}">
      <dsp:nvSpPr>
        <dsp:cNvPr id="0" name=""/>
        <dsp:cNvSpPr/>
      </dsp:nvSpPr>
      <dsp:spPr>
        <a:xfrm>
          <a:off x="760927" y="3303782"/>
          <a:ext cx="4330538" cy="660989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Word2vec properties in </a:t>
          </a:r>
          <a:r>
            <a:rPr lang="en-IN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spaCy</a:t>
          </a: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</a:p>
      </dsp:txBody>
      <dsp:txXfrm>
        <a:off x="760927" y="3303782"/>
        <a:ext cx="4330538" cy="660989"/>
      </dsp:txXfrm>
    </dsp:sp>
    <dsp:sp modelId="{9553D612-A85C-486E-B461-6A4C76F01CF5}">
      <dsp:nvSpPr>
        <dsp:cNvPr id="0" name=""/>
        <dsp:cNvSpPr/>
      </dsp:nvSpPr>
      <dsp:spPr>
        <a:xfrm>
          <a:off x="486166" y="3221158"/>
          <a:ext cx="826236" cy="826236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02C60EB4-86C6-4D5A-9674-6001E5836B87}">
      <dsp:nvSpPr>
        <dsp:cNvPr id="0" name=""/>
        <dsp:cNvSpPr/>
      </dsp:nvSpPr>
      <dsp:spPr>
        <a:xfrm>
          <a:off x="281959" y="4294948"/>
          <a:ext cx="4814828" cy="660989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Calibri" panose="020F0502020204030204" pitchFamily="34" charset="0"/>
              <a:cs typeface="Calibri" panose="020F0502020204030204" pitchFamily="34" charset="0"/>
            </a:rPr>
            <a:t>Case study</a:t>
          </a:r>
        </a:p>
      </dsp:txBody>
      <dsp:txXfrm>
        <a:off x="281959" y="4294948"/>
        <a:ext cx="4814828" cy="660989"/>
      </dsp:txXfrm>
    </dsp:sp>
    <dsp:sp modelId="{CF67B4C3-0D7A-442A-904D-3057A1EF857C}">
      <dsp:nvSpPr>
        <dsp:cNvPr id="0" name=""/>
        <dsp:cNvSpPr/>
      </dsp:nvSpPr>
      <dsp:spPr>
        <a:xfrm>
          <a:off x="12521" y="4212325"/>
          <a:ext cx="826236" cy="826236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24ECC4-AF2C-4A5C-AFA1-3464A1FCC810}">
      <dsp:nvSpPr>
        <dsp:cNvPr id="0" name=""/>
        <dsp:cNvSpPr/>
      </dsp:nvSpPr>
      <dsp:spPr>
        <a:xfrm>
          <a:off x="2386400" y="13367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F5D319-7023-4940-9EA9-C0397C44ED41}">
      <dsp:nvSpPr>
        <dsp:cNvPr id="0" name=""/>
        <dsp:cNvSpPr/>
      </dsp:nvSpPr>
      <dsp:spPr>
        <a:xfrm>
          <a:off x="982400" y="183005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CBOW</a:t>
          </a:r>
        </a:p>
      </dsp:txBody>
      <dsp:txXfrm>
        <a:off x="982400" y="1830053"/>
        <a:ext cx="4320000" cy="648000"/>
      </dsp:txXfrm>
    </dsp:sp>
    <dsp:sp modelId="{0AF244DD-90DA-42A6-8C62-98EF5836FF28}">
      <dsp:nvSpPr>
        <dsp:cNvPr id="0" name=""/>
        <dsp:cNvSpPr/>
      </dsp:nvSpPr>
      <dsp:spPr>
        <a:xfrm>
          <a:off x="982400" y="2563810"/>
          <a:ext cx="4320000" cy="1857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CBOW model learns to predict a target word leveraging all words in its neighborhood. The sum of the context vectors are used to predict the target word. The neighboring words taken into consideration is determined by a pre-defined window size surrounding the target word.</a:t>
          </a:r>
        </a:p>
      </dsp:txBody>
      <dsp:txXfrm>
        <a:off x="982400" y="2563810"/>
        <a:ext cx="4320000" cy="1857714"/>
      </dsp:txXfrm>
    </dsp:sp>
    <dsp:sp modelId="{3EBCD63D-2B12-4DDD-9CF2-986D6CB732B0}">
      <dsp:nvSpPr>
        <dsp:cNvPr id="0" name=""/>
        <dsp:cNvSpPr/>
      </dsp:nvSpPr>
      <dsp:spPr>
        <a:xfrm>
          <a:off x="7462400" y="13367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A6F5D-90A7-4B62-B79B-D6F73D7F7920}">
      <dsp:nvSpPr>
        <dsp:cNvPr id="0" name=""/>
        <dsp:cNvSpPr/>
      </dsp:nvSpPr>
      <dsp:spPr>
        <a:xfrm>
          <a:off x="6058400" y="183005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SkipGram</a:t>
          </a:r>
        </a:p>
      </dsp:txBody>
      <dsp:txXfrm>
        <a:off x="6058400" y="1830053"/>
        <a:ext cx="4320000" cy="648000"/>
      </dsp:txXfrm>
    </dsp:sp>
    <dsp:sp modelId="{C76B1FF0-091B-483F-9327-DA691286D741}">
      <dsp:nvSpPr>
        <dsp:cNvPr id="0" name=""/>
        <dsp:cNvSpPr/>
      </dsp:nvSpPr>
      <dsp:spPr>
        <a:xfrm>
          <a:off x="6058400" y="2563810"/>
          <a:ext cx="4320000" cy="1857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SkipGram model on the other hand, learns to predict a word based on a neighboring word. To put it simply, given a word, it learns to predict another word in it’s context.</a:t>
          </a:r>
        </a:p>
      </dsp:txBody>
      <dsp:txXfrm>
        <a:off x="6058400" y="2563810"/>
        <a:ext cx="4320000" cy="18577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AE58B-27CB-4D22-AABF-50F07E30140A}">
      <dsp:nvSpPr>
        <dsp:cNvPr id="0" name=""/>
        <dsp:cNvSpPr/>
      </dsp:nvSpPr>
      <dsp:spPr>
        <a:xfrm>
          <a:off x="-6048973" y="-994181"/>
          <a:ext cx="7115481" cy="7115481"/>
        </a:xfrm>
        <a:prstGeom prst="blockArc">
          <a:avLst>
            <a:gd name="adj1" fmla="val 18900000"/>
            <a:gd name="adj2" fmla="val 2700000"/>
            <a:gd name="adj3" fmla="val 304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1C0331-627E-4956-B34C-4FEAB8F0B671}">
      <dsp:nvSpPr>
        <dsp:cNvPr id="0" name=""/>
        <dsp:cNvSpPr/>
      </dsp:nvSpPr>
      <dsp:spPr>
        <a:xfrm>
          <a:off x="319130" y="295161"/>
          <a:ext cx="4740487" cy="731232"/>
        </a:xfrm>
        <a:prstGeom prst="rect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      Vectorization</a:t>
          </a:r>
        </a:p>
      </dsp:txBody>
      <dsp:txXfrm>
        <a:off x="319130" y="295161"/>
        <a:ext cx="4740487" cy="731232"/>
      </dsp:txXfrm>
    </dsp:sp>
    <dsp:sp modelId="{47DFED79-DB5B-4E8C-B682-A588521A0C1E}">
      <dsp:nvSpPr>
        <dsp:cNvPr id="0" name=""/>
        <dsp:cNvSpPr/>
      </dsp:nvSpPr>
      <dsp:spPr>
        <a:xfrm>
          <a:off x="12521" y="247659"/>
          <a:ext cx="826236" cy="826236"/>
        </a:xfrm>
        <a:prstGeom prst="ellipse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E88317C7-90A2-4C25-9546-9B945D9DCABC}">
      <dsp:nvSpPr>
        <dsp:cNvPr id="0" name=""/>
        <dsp:cNvSpPr/>
      </dsp:nvSpPr>
      <dsp:spPr>
        <a:xfrm>
          <a:off x="1045614" y="1358002"/>
          <a:ext cx="4053824" cy="660989"/>
        </a:xfrm>
        <a:prstGeom prst="rect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Basic w2v function &amp; Similarity using w2v</a:t>
          </a:r>
        </a:p>
      </dsp:txBody>
      <dsp:txXfrm>
        <a:off x="1045614" y="1358002"/>
        <a:ext cx="4053824" cy="660989"/>
      </dsp:txXfrm>
    </dsp:sp>
    <dsp:sp modelId="{E429469F-E2C2-4595-B7EA-348F95B2056B}">
      <dsp:nvSpPr>
        <dsp:cNvPr id="0" name=""/>
        <dsp:cNvSpPr/>
      </dsp:nvSpPr>
      <dsp:spPr>
        <a:xfrm>
          <a:off x="486166" y="1238825"/>
          <a:ext cx="826236" cy="826236"/>
        </a:xfrm>
        <a:prstGeom prst="ellipse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1FC4862E-0185-4A9A-9A9C-4349F963D0D7}">
      <dsp:nvSpPr>
        <dsp:cNvPr id="0" name=""/>
        <dsp:cNvSpPr/>
      </dsp:nvSpPr>
      <dsp:spPr>
        <a:xfrm>
          <a:off x="916907" y="2312615"/>
          <a:ext cx="4163949" cy="660989"/>
        </a:xfrm>
        <a:prstGeom prst="rect">
          <a:avLst/>
        </a:prstGeom>
        <a:noFill/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Deeper understanding of w2v</a:t>
          </a:r>
        </a:p>
      </dsp:txBody>
      <dsp:txXfrm>
        <a:off x="916907" y="2312615"/>
        <a:ext cx="4163949" cy="660989"/>
      </dsp:txXfrm>
    </dsp:sp>
    <dsp:sp modelId="{D57AE131-E6FE-4A12-A1A0-43665D1C7D63}">
      <dsp:nvSpPr>
        <dsp:cNvPr id="0" name=""/>
        <dsp:cNvSpPr/>
      </dsp:nvSpPr>
      <dsp:spPr>
        <a:xfrm>
          <a:off x="631537" y="2229992"/>
          <a:ext cx="826236" cy="826236"/>
        </a:xfrm>
        <a:prstGeom prst="ellipse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1280C9D9-236B-47CE-A4E9-93A47AF7EF7D}">
      <dsp:nvSpPr>
        <dsp:cNvPr id="0" name=""/>
        <dsp:cNvSpPr/>
      </dsp:nvSpPr>
      <dsp:spPr>
        <a:xfrm>
          <a:off x="760927" y="3303782"/>
          <a:ext cx="4330538" cy="660989"/>
        </a:xfrm>
        <a:prstGeom prst="rect">
          <a:avLst/>
        </a:prstGeom>
        <a:solidFill>
          <a:srgbClr val="00B0F0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   Word2vec properties in </a:t>
          </a:r>
          <a:r>
            <a:rPr lang="en-IN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spaCy</a:t>
          </a: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</a:p>
      </dsp:txBody>
      <dsp:txXfrm>
        <a:off x="760927" y="3303782"/>
        <a:ext cx="4330538" cy="660989"/>
      </dsp:txXfrm>
    </dsp:sp>
    <dsp:sp modelId="{9553D612-A85C-486E-B461-6A4C76F01CF5}">
      <dsp:nvSpPr>
        <dsp:cNvPr id="0" name=""/>
        <dsp:cNvSpPr/>
      </dsp:nvSpPr>
      <dsp:spPr>
        <a:xfrm>
          <a:off x="486166" y="3221158"/>
          <a:ext cx="826236" cy="826236"/>
        </a:xfrm>
        <a:prstGeom prst="ellipse">
          <a:avLst/>
        </a:prstGeom>
        <a:solidFill>
          <a:srgbClr val="00B0F0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02C60EB4-86C6-4D5A-9674-6001E5836B87}">
      <dsp:nvSpPr>
        <dsp:cNvPr id="0" name=""/>
        <dsp:cNvSpPr/>
      </dsp:nvSpPr>
      <dsp:spPr>
        <a:xfrm>
          <a:off x="281959" y="4294948"/>
          <a:ext cx="4814828" cy="660989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Calibri" panose="020F0502020204030204" pitchFamily="34" charset="0"/>
              <a:cs typeface="Calibri" panose="020F0502020204030204" pitchFamily="34" charset="0"/>
            </a:rPr>
            <a:t>Case study</a:t>
          </a:r>
        </a:p>
      </dsp:txBody>
      <dsp:txXfrm>
        <a:off x="281959" y="4294948"/>
        <a:ext cx="4814828" cy="660989"/>
      </dsp:txXfrm>
    </dsp:sp>
    <dsp:sp modelId="{CF67B4C3-0D7A-442A-904D-3057A1EF857C}">
      <dsp:nvSpPr>
        <dsp:cNvPr id="0" name=""/>
        <dsp:cNvSpPr/>
      </dsp:nvSpPr>
      <dsp:spPr>
        <a:xfrm>
          <a:off x="12521" y="4212325"/>
          <a:ext cx="826236" cy="826236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AE58B-27CB-4D22-AABF-50F07E30140A}">
      <dsp:nvSpPr>
        <dsp:cNvPr id="0" name=""/>
        <dsp:cNvSpPr/>
      </dsp:nvSpPr>
      <dsp:spPr>
        <a:xfrm>
          <a:off x="-6048973" y="-994181"/>
          <a:ext cx="7115481" cy="7115481"/>
        </a:xfrm>
        <a:prstGeom prst="blockArc">
          <a:avLst>
            <a:gd name="adj1" fmla="val 18900000"/>
            <a:gd name="adj2" fmla="val 2700000"/>
            <a:gd name="adj3" fmla="val 304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1C0331-627E-4956-B34C-4FEAB8F0B671}">
      <dsp:nvSpPr>
        <dsp:cNvPr id="0" name=""/>
        <dsp:cNvSpPr/>
      </dsp:nvSpPr>
      <dsp:spPr>
        <a:xfrm>
          <a:off x="319130" y="295161"/>
          <a:ext cx="4740487" cy="731232"/>
        </a:xfrm>
        <a:prstGeom prst="rect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latin typeface="Calibri" panose="020F0502020204030204" pitchFamily="34" charset="0"/>
              <a:cs typeface="Calibri" panose="020F0502020204030204" pitchFamily="34" charset="0"/>
            </a:rPr>
            <a:t>       Vectorization</a:t>
          </a:r>
        </a:p>
      </dsp:txBody>
      <dsp:txXfrm>
        <a:off x="319130" y="295161"/>
        <a:ext cx="4740487" cy="731232"/>
      </dsp:txXfrm>
    </dsp:sp>
    <dsp:sp modelId="{47DFED79-DB5B-4E8C-B682-A588521A0C1E}">
      <dsp:nvSpPr>
        <dsp:cNvPr id="0" name=""/>
        <dsp:cNvSpPr/>
      </dsp:nvSpPr>
      <dsp:spPr>
        <a:xfrm>
          <a:off x="12521" y="247659"/>
          <a:ext cx="826236" cy="826236"/>
        </a:xfrm>
        <a:prstGeom prst="ellipse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E88317C7-90A2-4C25-9546-9B945D9DCABC}">
      <dsp:nvSpPr>
        <dsp:cNvPr id="0" name=""/>
        <dsp:cNvSpPr/>
      </dsp:nvSpPr>
      <dsp:spPr>
        <a:xfrm>
          <a:off x="1045614" y="1358002"/>
          <a:ext cx="4053824" cy="660989"/>
        </a:xfrm>
        <a:prstGeom prst="rect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Basic w2v function &amp; Similarity using w2v</a:t>
          </a:r>
        </a:p>
      </dsp:txBody>
      <dsp:txXfrm>
        <a:off x="1045614" y="1358002"/>
        <a:ext cx="4053824" cy="660989"/>
      </dsp:txXfrm>
    </dsp:sp>
    <dsp:sp modelId="{E429469F-E2C2-4595-B7EA-348F95B2056B}">
      <dsp:nvSpPr>
        <dsp:cNvPr id="0" name=""/>
        <dsp:cNvSpPr/>
      </dsp:nvSpPr>
      <dsp:spPr>
        <a:xfrm>
          <a:off x="486166" y="1238825"/>
          <a:ext cx="826236" cy="826236"/>
        </a:xfrm>
        <a:prstGeom prst="ellipse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1FC4862E-0185-4A9A-9A9C-4349F963D0D7}">
      <dsp:nvSpPr>
        <dsp:cNvPr id="0" name=""/>
        <dsp:cNvSpPr/>
      </dsp:nvSpPr>
      <dsp:spPr>
        <a:xfrm>
          <a:off x="916907" y="2312615"/>
          <a:ext cx="4163949" cy="660989"/>
        </a:xfrm>
        <a:prstGeom prst="rect">
          <a:avLst/>
        </a:prstGeom>
        <a:noFill/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Deeper understanding of w2v</a:t>
          </a:r>
        </a:p>
      </dsp:txBody>
      <dsp:txXfrm>
        <a:off x="916907" y="2312615"/>
        <a:ext cx="4163949" cy="660989"/>
      </dsp:txXfrm>
    </dsp:sp>
    <dsp:sp modelId="{D57AE131-E6FE-4A12-A1A0-43665D1C7D63}">
      <dsp:nvSpPr>
        <dsp:cNvPr id="0" name=""/>
        <dsp:cNvSpPr/>
      </dsp:nvSpPr>
      <dsp:spPr>
        <a:xfrm>
          <a:off x="631537" y="2229992"/>
          <a:ext cx="826236" cy="826236"/>
        </a:xfrm>
        <a:prstGeom prst="ellipse">
          <a:avLst/>
        </a:prstGeom>
        <a:solidFill>
          <a:schemeClr val="bg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1280C9D9-236B-47CE-A4E9-93A47AF7EF7D}">
      <dsp:nvSpPr>
        <dsp:cNvPr id="0" name=""/>
        <dsp:cNvSpPr/>
      </dsp:nvSpPr>
      <dsp:spPr>
        <a:xfrm>
          <a:off x="760927" y="3303782"/>
          <a:ext cx="4330538" cy="660989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0640" rIns="40640" bIns="4064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Word2vec properties in </a:t>
          </a:r>
          <a:r>
            <a:rPr lang="en-IN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spaCy</a:t>
          </a:r>
          <a:r>
            <a:rPr lang="en-IN" sz="16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</a:p>
      </dsp:txBody>
      <dsp:txXfrm>
        <a:off x="760927" y="3303782"/>
        <a:ext cx="4330538" cy="660989"/>
      </dsp:txXfrm>
    </dsp:sp>
    <dsp:sp modelId="{9553D612-A85C-486E-B461-6A4C76F01CF5}">
      <dsp:nvSpPr>
        <dsp:cNvPr id="0" name=""/>
        <dsp:cNvSpPr/>
      </dsp:nvSpPr>
      <dsp:spPr>
        <a:xfrm>
          <a:off x="486166" y="3221158"/>
          <a:ext cx="826236" cy="826236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02C60EB4-86C6-4D5A-9674-6001E5836B87}">
      <dsp:nvSpPr>
        <dsp:cNvPr id="0" name=""/>
        <dsp:cNvSpPr/>
      </dsp:nvSpPr>
      <dsp:spPr>
        <a:xfrm>
          <a:off x="281959" y="4294948"/>
          <a:ext cx="4814828" cy="660989"/>
        </a:xfrm>
        <a:prstGeom prst="rect">
          <a:avLst/>
        </a:prstGeom>
        <a:solidFill>
          <a:srgbClr val="00B0F0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24660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Calibri" panose="020F0502020204030204" pitchFamily="34" charset="0"/>
              <a:cs typeface="Calibri" panose="020F0502020204030204" pitchFamily="34" charset="0"/>
            </a:rPr>
            <a:t>      Case study</a:t>
          </a:r>
        </a:p>
      </dsp:txBody>
      <dsp:txXfrm>
        <a:off x="281959" y="4294948"/>
        <a:ext cx="4814828" cy="660989"/>
      </dsp:txXfrm>
    </dsp:sp>
    <dsp:sp modelId="{CF67B4C3-0D7A-442A-904D-3057A1EF857C}">
      <dsp:nvSpPr>
        <dsp:cNvPr id="0" name=""/>
        <dsp:cNvSpPr/>
      </dsp:nvSpPr>
      <dsp:spPr>
        <a:xfrm>
          <a:off x="12521" y="4212325"/>
          <a:ext cx="826236" cy="826236"/>
        </a:xfrm>
        <a:prstGeom prst="ellipse">
          <a:avLst/>
        </a:prstGeom>
        <a:solidFill>
          <a:srgbClr val="00B0F0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61410-ED79-4AD8-94A8-4B31930E6402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0F859-C88D-4AB1-A2AE-747E9B306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66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kavita-ganesan.com/comparison-between-cbow-skipgram-subword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7338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9634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2808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1024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3968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dirty="0"/>
              <a:t>Vectorization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6271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245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3274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9760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1314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9162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dirty="0"/>
              <a:t>Cosine similarity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9249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26362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1735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4497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07370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88163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05781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2204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0" i="0" dirty="0">
                <a:solidFill>
                  <a:srgbClr val="3A3A3A"/>
                </a:solidFill>
                <a:effectLst/>
                <a:latin typeface="Public Sans"/>
              </a:rPr>
              <a:t>With Word2Vec, we train a neural network with a single hidden layer to predict a </a:t>
            </a:r>
            <a:r>
              <a:rPr lang="en-US" b="1" i="0" dirty="0">
                <a:solidFill>
                  <a:srgbClr val="3A3A3A"/>
                </a:solidFill>
                <a:effectLst/>
                <a:latin typeface="Public Sans"/>
              </a:rPr>
              <a:t>target word</a:t>
            </a:r>
            <a:r>
              <a:rPr lang="en-US" b="0" i="0" dirty="0">
                <a:solidFill>
                  <a:srgbClr val="3A3A3A"/>
                </a:solidFill>
                <a:effectLst/>
                <a:latin typeface="Public Sans"/>
              </a:rPr>
              <a:t> based on its </a:t>
            </a:r>
            <a:r>
              <a:rPr lang="en-US" b="1" i="0" dirty="0">
                <a:solidFill>
                  <a:srgbClr val="3A3A3A"/>
                </a:solidFill>
                <a:effectLst/>
                <a:latin typeface="Public Sans"/>
              </a:rPr>
              <a:t>context</a:t>
            </a:r>
            <a:r>
              <a:rPr lang="en-US" b="0" i="0" dirty="0">
                <a:solidFill>
                  <a:srgbClr val="3A3A3A"/>
                </a:solidFill>
                <a:effectLst/>
                <a:latin typeface="Public Sans"/>
              </a:rPr>
              <a:t> (</a:t>
            </a:r>
            <a:r>
              <a:rPr lang="en-US" b="1" i="0" dirty="0">
                <a:solidFill>
                  <a:srgbClr val="3A3A3A"/>
                </a:solidFill>
                <a:effectLst/>
                <a:latin typeface="Public Sans"/>
              </a:rPr>
              <a:t>neighboring words</a:t>
            </a:r>
            <a:r>
              <a:rPr lang="en-US" b="0" i="0" dirty="0">
                <a:solidFill>
                  <a:srgbClr val="3A3A3A"/>
                </a:solidFill>
                <a:effectLst/>
                <a:latin typeface="Public Sans"/>
              </a:rPr>
              <a:t>). The assumption is that </a:t>
            </a:r>
            <a:r>
              <a:rPr lang="en-US" b="0" i="1" dirty="0">
                <a:solidFill>
                  <a:srgbClr val="3A3A3A"/>
                </a:solidFill>
                <a:effectLst/>
                <a:latin typeface="Public Sans"/>
              </a:rPr>
              <a:t>the meaning of a word can be inferred by the company it keeps</a:t>
            </a:r>
            <a:r>
              <a:rPr lang="en-US" b="0" i="0" dirty="0">
                <a:solidFill>
                  <a:srgbClr val="3A3A3A"/>
                </a:solidFill>
                <a:effectLst/>
                <a:latin typeface="Public Sans"/>
              </a:rPr>
              <a:t>. Under the hood, when it comes to training you could use two different neural architectures to achieve this—</a:t>
            </a:r>
            <a:r>
              <a:rPr lang="en-US" b="0" i="1" u="none" strike="noStrike" dirty="0">
                <a:solidFill>
                  <a:srgbClr val="9F1F53"/>
                </a:solidFill>
                <a:effectLst/>
                <a:latin typeface="Public Sans"/>
                <a:hlinkClick r:id="rId3"/>
              </a:rPr>
              <a:t>CBOW</a:t>
            </a:r>
            <a:r>
              <a:rPr lang="en-US" b="0" i="0" u="none" strike="noStrike" dirty="0">
                <a:solidFill>
                  <a:srgbClr val="9F1F53"/>
                </a:solidFill>
                <a:effectLst/>
                <a:latin typeface="Public Sans"/>
                <a:hlinkClick r:id="rId3"/>
              </a:rPr>
              <a:t> and </a:t>
            </a:r>
            <a:r>
              <a:rPr lang="en-US" b="0" i="1" u="none" strike="noStrike" dirty="0" err="1">
                <a:solidFill>
                  <a:srgbClr val="9F1F53"/>
                </a:solidFill>
                <a:effectLst/>
                <a:latin typeface="Public Sans"/>
                <a:hlinkClick r:id="rId3"/>
              </a:rPr>
              <a:t>SkipGram</a:t>
            </a:r>
            <a:r>
              <a:rPr lang="en-US" b="0" i="0" dirty="0">
                <a:solidFill>
                  <a:srgbClr val="3A3A3A"/>
                </a:solidFill>
                <a:effectLst/>
                <a:latin typeface="Public Sans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24960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Shape 1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58842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65921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58355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20761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76404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9569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79905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17499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1786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67818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84660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73019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19300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20735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40598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54302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63117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80661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dirty="0"/>
              <a:t># spacy—similarity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dirty="0"/>
              <a:t># genism- similarity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3694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46534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2039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5709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3265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349655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71003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274340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894637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7494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Shape 1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86260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335110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59392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Shape 2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005858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340658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838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76560-6F08-4E97-A781-6BE146AF9D68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7F0E-3E39-4813-BA98-F8208980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604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76560-6F08-4E97-A781-6BE146AF9D68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7F0E-3E39-4813-BA98-F8208980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6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76560-6F08-4E97-A781-6BE146AF9D68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7F0E-3E39-4813-BA98-F8208980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41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76560-6F08-4E97-A781-6BE146AF9D68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7F0E-3E39-4813-BA98-F8208980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726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76560-6F08-4E97-A781-6BE146AF9D68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7F0E-3E39-4813-BA98-F8208980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0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76560-6F08-4E97-A781-6BE146AF9D68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7F0E-3E39-4813-BA98-F8208980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1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76560-6F08-4E97-A781-6BE146AF9D68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7F0E-3E39-4813-BA98-F8208980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88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76560-6F08-4E97-A781-6BE146AF9D68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7F0E-3E39-4813-BA98-F8208980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76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76560-6F08-4E97-A781-6BE146AF9D68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7F0E-3E39-4813-BA98-F8208980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0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76560-6F08-4E97-A781-6BE146AF9D68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7F0E-3E39-4813-BA98-F8208980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8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76560-6F08-4E97-A781-6BE146AF9D68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7F0E-3E39-4813-BA98-F8208980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88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1334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76560-6F08-4E97-A781-6BE146AF9D68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77F0E-3E39-4813-BA98-F8208980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64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75749F-F487-4EFB-ABC7-C1359590E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F6285A5F-6712-47A0-8A11-F0DFF60D0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276856" y="1645695"/>
            <a:ext cx="4418320" cy="3877280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50800" cap="flat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A6F8ABB-6C5D-4349-9E1B-198D1ABF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2343" y="643383"/>
            <a:ext cx="2926988" cy="2594434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solidFill>
            <a:schemeClr val="tx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71ABA8-4CDB-4EEE-8C48-AA4FDB650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2071858"/>
            <a:ext cx="8109718" cy="4786143"/>
          </a:xfrm>
          <a:custGeom>
            <a:avLst/>
            <a:gdLst>
              <a:gd name="connsiteX0" fmla="*/ 7381313 w 8109718"/>
              <a:gd name="connsiteY0" fmla="*/ 1839459 h 4786143"/>
              <a:gd name="connsiteX1" fmla="*/ 7381313 w 8109718"/>
              <a:gd name="connsiteY1" fmla="*/ 1853646 h 4786143"/>
              <a:gd name="connsiteX2" fmla="*/ 7379359 w 8109718"/>
              <a:gd name="connsiteY2" fmla="*/ 1846552 h 4786143"/>
              <a:gd name="connsiteX3" fmla="*/ 1321854 w 8109718"/>
              <a:gd name="connsiteY3" fmla="*/ 0 h 4786143"/>
              <a:gd name="connsiteX4" fmla="*/ 5365317 w 8109718"/>
              <a:gd name="connsiteY4" fmla="*/ 0 h 4786143"/>
              <a:gd name="connsiteX5" fmla="*/ 5985373 w 8109718"/>
              <a:gd name="connsiteY5" fmla="*/ 365439 h 4786143"/>
              <a:gd name="connsiteX6" fmla="*/ 8011470 w 8109718"/>
              <a:gd name="connsiteY6" fmla="*/ 3854515 h 4786143"/>
              <a:gd name="connsiteX7" fmla="*/ 8011470 w 8109718"/>
              <a:gd name="connsiteY7" fmla="*/ 4567993 h 4786143"/>
              <a:gd name="connsiteX8" fmla="*/ 7904625 w 8109718"/>
              <a:gd name="connsiteY8" fmla="*/ 4751987 h 4786143"/>
              <a:gd name="connsiteX9" fmla="*/ 7884791 w 8109718"/>
              <a:gd name="connsiteY9" fmla="*/ 4786143 h 4786143"/>
              <a:gd name="connsiteX10" fmla="*/ 0 w 8109718"/>
              <a:gd name="connsiteY10" fmla="*/ 4786143 h 4786143"/>
              <a:gd name="connsiteX11" fmla="*/ 0 w 8109718"/>
              <a:gd name="connsiteY11" fmla="*/ 1564110 h 4786143"/>
              <a:gd name="connsiteX12" fmla="*/ 27177 w 8109718"/>
              <a:gd name="connsiteY12" fmla="*/ 1517107 h 4786143"/>
              <a:gd name="connsiteX13" fmla="*/ 693065 w 8109718"/>
              <a:gd name="connsiteY13" fmla="*/ 365439 h 4786143"/>
              <a:gd name="connsiteX14" fmla="*/ 1321854 w 8109718"/>
              <a:gd name="connsiteY14" fmla="*/ 0 h 478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109718" h="4786143">
                <a:moveTo>
                  <a:pt x="7381313" y="1839459"/>
                </a:moveTo>
                <a:lnTo>
                  <a:pt x="7381313" y="1853646"/>
                </a:lnTo>
                <a:lnTo>
                  <a:pt x="7379359" y="1846552"/>
                </a:lnTo>
                <a:close/>
                <a:moveTo>
                  <a:pt x="1321854" y="0"/>
                </a:moveTo>
                <a:cubicBezTo>
                  <a:pt x="1321854" y="0"/>
                  <a:pt x="1321854" y="0"/>
                  <a:pt x="5365317" y="0"/>
                </a:cubicBezTo>
                <a:cubicBezTo>
                  <a:pt x="5618580" y="0"/>
                  <a:pt x="5863108" y="139215"/>
                  <a:pt x="5985373" y="365439"/>
                </a:cubicBezTo>
                <a:cubicBezTo>
                  <a:pt x="5985373" y="365439"/>
                  <a:pt x="5985373" y="365439"/>
                  <a:pt x="8011470" y="3854515"/>
                </a:cubicBezTo>
                <a:cubicBezTo>
                  <a:pt x="8142468" y="4072039"/>
                  <a:pt x="8142468" y="4350470"/>
                  <a:pt x="8011470" y="4567993"/>
                </a:cubicBezTo>
                <a:cubicBezTo>
                  <a:pt x="8011470" y="4567993"/>
                  <a:pt x="8011470" y="4567993"/>
                  <a:pt x="7904625" y="4751987"/>
                </a:cubicBezTo>
                <a:lnTo>
                  <a:pt x="7884791" y="4786143"/>
                </a:lnTo>
                <a:lnTo>
                  <a:pt x="0" y="4786143"/>
                </a:lnTo>
                <a:lnTo>
                  <a:pt x="0" y="1564110"/>
                </a:lnTo>
                <a:lnTo>
                  <a:pt x="27177" y="1517107"/>
                </a:lnTo>
                <a:cubicBezTo>
                  <a:pt x="220245" y="1183191"/>
                  <a:pt x="440895" y="801574"/>
                  <a:pt x="693065" y="365439"/>
                </a:cubicBezTo>
                <a:cubicBezTo>
                  <a:pt x="824063" y="139215"/>
                  <a:pt x="1059859" y="0"/>
                  <a:pt x="132185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33BBA4-098D-4103-8E51-DCBC2A527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0281" y="2961564"/>
            <a:ext cx="5124734" cy="3268639"/>
          </a:xfrm>
        </p:spPr>
        <p:txBody>
          <a:bodyPr anchor="ctr">
            <a:normAutofit/>
          </a:bodyPr>
          <a:lstStyle/>
          <a:p>
            <a:pPr algn="l"/>
            <a:r>
              <a:rPr lang="en-IN" sz="7200">
                <a:solidFill>
                  <a:schemeClr val="bg1"/>
                </a:solidFill>
              </a:rPr>
              <a:t>Word2vec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9AD9F25-112B-4057-9FAE-673858DA6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4333" y="1340553"/>
            <a:ext cx="2223009" cy="1200095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Advance NLP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AD463E1-6621-44B4-A995-C70A4631D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7830" y="385730"/>
            <a:ext cx="1128382" cy="847206"/>
            <a:chOff x="5307830" y="325570"/>
            <a:chExt cx="1128382" cy="847206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4542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46;p28">
            <a:extLst>
              <a:ext uri="{FF2B5EF4-FFF2-40B4-BE49-F238E27FC236}">
                <a16:creationId xmlns:a16="http://schemas.microsoft.com/office/drawing/2014/main" id="{2D7EECF4-2A52-40B6-9979-C0B9809628A8}"/>
              </a:ext>
            </a:extLst>
          </p:cNvPr>
          <p:cNvGrpSpPr/>
          <p:nvPr/>
        </p:nvGrpSpPr>
        <p:grpSpPr>
          <a:xfrm>
            <a:off x="557645" y="337125"/>
            <a:ext cx="11357441" cy="913046"/>
            <a:chOff x="557644" y="281625"/>
            <a:chExt cx="11357441" cy="913045"/>
          </a:xfrm>
        </p:grpSpPr>
        <p:grpSp>
          <p:nvGrpSpPr>
            <p:cNvPr id="5" name="Google Shape;147;p28">
              <a:extLst>
                <a:ext uri="{FF2B5EF4-FFF2-40B4-BE49-F238E27FC236}">
                  <a16:creationId xmlns:a16="http://schemas.microsoft.com/office/drawing/2014/main" id="{EDC3ED98-DD00-46B6-BF64-243A693AC01B}"/>
                </a:ext>
              </a:extLst>
            </p:cNvPr>
            <p:cNvGrpSpPr/>
            <p:nvPr/>
          </p:nvGrpSpPr>
          <p:grpSpPr>
            <a:xfrm>
              <a:off x="3179913" y="281625"/>
              <a:ext cx="5325035" cy="853515"/>
              <a:chOff x="3205793" y="21796"/>
              <a:chExt cx="5325035" cy="853515"/>
            </a:xfrm>
          </p:grpSpPr>
          <p:sp>
            <p:nvSpPr>
              <p:cNvPr id="9" name="Google Shape;148;p28">
                <a:extLst>
                  <a:ext uri="{FF2B5EF4-FFF2-40B4-BE49-F238E27FC236}">
                    <a16:creationId xmlns:a16="http://schemas.microsoft.com/office/drawing/2014/main" id="{2BD28950-A06B-4112-97B3-A01C71775573}"/>
                  </a:ext>
                </a:extLst>
              </p:cNvPr>
              <p:cNvSpPr txBox="1"/>
              <p:nvPr/>
            </p:nvSpPr>
            <p:spPr>
              <a:xfrm>
                <a:off x="3205793" y="352091"/>
                <a:ext cx="5325035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algn="ctr"/>
                <a:endParaRPr sz="2800">
                  <a:solidFill>
                    <a:srgbClr val="44546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" name="Google Shape;149;p28">
                <a:extLst>
                  <a:ext uri="{FF2B5EF4-FFF2-40B4-BE49-F238E27FC236}">
                    <a16:creationId xmlns:a16="http://schemas.microsoft.com/office/drawing/2014/main" id="{67F74FDA-EB75-48C1-A2F5-5499391D9CEC}"/>
                  </a:ext>
                </a:extLst>
              </p:cNvPr>
              <p:cNvSpPr txBox="1"/>
              <p:nvPr/>
            </p:nvSpPr>
            <p:spPr>
              <a:xfrm>
                <a:off x="5969132" y="21796"/>
                <a:ext cx="184731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algn="ctr"/>
                <a:endParaRPr sz="1100"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sp>
          <p:nvSpPr>
            <p:cNvPr id="8" name="Google Shape;152;p28">
              <a:extLst>
                <a:ext uri="{FF2B5EF4-FFF2-40B4-BE49-F238E27FC236}">
                  <a16:creationId xmlns:a16="http://schemas.microsoft.com/office/drawing/2014/main" id="{6FAD9CD1-E253-4651-BC99-69249979BD8A}"/>
                </a:ext>
              </a:extLst>
            </p:cNvPr>
            <p:cNvSpPr/>
            <p:nvPr/>
          </p:nvSpPr>
          <p:spPr>
            <a:xfrm>
              <a:off x="557644" y="1135140"/>
              <a:ext cx="11357441" cy="59530"/>
            </a:xfrm>
            <a:prstGeom prst="rect">
              <a:avLst/>
            </a:prstGeom>
            <a:solidFill>
              <a:srgbClr val="0070C0"/>
            </a:solidFill>
            <a:ln w="1270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937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218808268"/>
              </p:ext>
            </p:extLst>
          </p:nvPr>
        </p:nvGraphicFramePr>
        <p:xfrm>
          <a:off x="1028545" y="1365440"/>
          <a:ext cx="5099439" cy="5286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46049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/>
          <p:nvPr/>
        </p:nvSpPr>
        <p:spPr>
          <a:xfrm>
            <a:off x="1227991" y="588900"/>
            <a:ext cx="9674400" cy="5700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spcAft>
                <a:spcPts val="2133"/>
              </a:spcAft>
            </a:pPr>
            <a:endParaRPr lang="en" sz="3200" b="1" dirty="0">
              <a:solidFill>
                <a:srgbClr val="BF9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0" y="692440"/>
            <a:ext cx="11915085" cy="523220"/>
            <a:chOff x="0" y="692440"/>
            <a:chExt cx="11915085" cy="523220"/>
          </a:xfrm>
        </p:grpSpPr>
        <p:sp>
          <p:nvSpPr>
            <p:cNvPr id="13" name="TextBox 12"/>
            <p:cNvSpPr txBox="1"/>
            <p:nvPr/>
          </p:nvSpPr>
          <p:spPr>
            <a:xfrm>
              <a:off x="0" y="692440"/>
              <a:ext cx="29457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133"/>
                </a:spcAft>
              </a:pPr>
              <a:r>
                <a:rPr lang="en" sz="2800" b="1" dirty="0">
                  <a:solidFill>
                    <a:srgbClr val="00B050"/>
                  </a:solidFill>
                  <a:ea typeface="Comic Sans MS"/>
                  <a:cs typeface="Comic Sans MS"/>
                  <a:sym typeface="Comic Sans MS"/>
                </a:rPr>
                <a:t>Vectorization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57644" y="1135140"/>
              <a:ext cx="11357441" cy="5953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37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945794" y="3178824"/>
            <a:ext cx="6056026" cy="3283574"/>
            <a:chOff x="1482830" y="2293677"/>
            <a:chExt cx="10596162" cy="4600538"/>
          </a:xfrm>
        </p:grpSpPr>
        <p:sp>
          <p:nvSpPr>
            <p:cNvPr id="96" name="Shape 96"/>
            <p:cNvSpPr txBox="1"/>
            <p:nvPr/>
          </p:nvSpPr>
          <p:spPr>
            <a:xfrm>
              <a:off x="5192032" y="2293677"/>
              <a:ext cx="5919224" cy="570000"/>
            </a:xfrm>
            <a:prstGeom prst="rect">
              <a:avLst/>
            </a:prstGeom>
            <a:noFill/>
            <a:ln>
              <a:noFill/>
            </a:ln>
          </p:spPr>
          <p:txBody>
            <a:bodyPr lIns="121900" tIns="121900" rIns="121900" bIns="121900" anchor="t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" sz="1100" dirty="0">
                  <a:highlight>
                    <a:srgbClr val="F4CCCC"/>
                  </a:highlight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" sz="1800" dirty="0">
                  <a:highlight>
                    <a:srgbClr val="F4CCCC"/>
                  </a:highlight>
                  <a:latin typeface="Calibri" panose="020F0502020204030204" pitchFamily="34" charset="0"/>
                  <a:ea typeface="Comic Sans MS"/>
                  <a:cs typeface="Calibri" panose="020F0502020204030204" pitchFamily="34" charset="0"/>
                  <a:sym typeface="Comic Sans MS"/>
                </a:rPr>
                <a:t>King, Queen, Man, Woman, Child</a:t>
              </a:r>
              <a:r>
                <a:rPr lang="en" sz="1100" dirty="0">
                  <a:highlight>
                    <a:srgbClr val="F4CCCC"/>
                  </a:highlight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 </a:t>
              </a:r>
            </a:p>
          </p:txBody>
        </p:sp>
        <p:sp>
          <p:nvSpPr>
            <p:cNvPr id="97" name="Shape 97"/>
            <p:cNvSpPr txBox="1"/>
            <p:nvPr/>
          </p:nvSpPr>
          <p:spPr>
            <a:xfrm>
              <a:off x="1482830" y="2373480"/>
              <a:ext cx="2354875" cy="736767"/>
            </a:xfrm>
            <a:prstGeom prst="rect">
              <a:avLst/>
            </a:prstGeom>
            <a:noFill/>
            <a:ln>
              <a:noFill/>
            </a:ln>
          </p:spPr>
          <p:txBody>
            <a:bodyPr lIns="121900" tIns="121900" rIns="121900" bIns="121900" anchor="t" anchorCtr="0">
              <a:noAutofit/>
            </a:bodyPr>
            <a:lstStyle/>
            <a:p>
              <a:r>
                <a:rPr lang="en" dirty="0">
                  <a:latin typeface="+mj-lt"/>
                  <a:ea typeface="Roboto"/>
                  <a:cs typeface="Roboto"/>
                  <a:sym typeface="Roboto"/>
                </a:rPr>
                <a:t>Vocabulary</a:t>
              </a:r>
            </a:p>
          </p:txBody>
        </p:sp>
        <p:cxnSp>
          <p:nvCxnSpPr>
            <p:cNvPr id="98" name="Shape 98"/>
            <p:cNvCxnSpPr/>
            <p:nvPr/>
          </p:nvCxnSpPr>
          <p:spPr>
            <a:xfrm>
              <a:off x="3837705" y="2712450"/>
              <a:ext cx="1057229" cy="2299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graphicFrame>
          <p:nvGraphicFramePr>
            <p:cNvPr id="99" name="Shape 99"/>
            <p:cNvGraphicFramePr/>
            <p:nvPr/>
          </p:nvGraphicFramePr>
          <p:xfrm>
            <a:off x="5286633" y="3164866"/>
            <a:ext cx="5408289" cy="875393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6182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182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6182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61820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61820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623192">
                  <a:tc>
                    <a:txBody>
                      <a:bodyPr/>
                      <a:lstStyle/>
                      <a:p>
                        <a:pPr lvl="0" algn="ctr">
                          <a:spcBef>
                            <a:spcPts val="0"/>
                          </a:spcBef>
                          <a:buNone/>
                        </a:pPr>
                        <a:r>
                          <a:rPr lang="en" sz="2500">
                            <a:latin typeface="Comic Sans MS"/>
                            <a:ea typeface="Comic Sans MS"/>
                            <a:cs typeface="Comic Sans MS"/>
                            <a:sym typeface="Comic Sans MS"/>
                          </a:rPr>
                          <a:t>1</a:t>
                        </a:r>
                      </a:p>
                    </a:txBody>
                    <a:tcPr marL="121900" marR="121900" marT="121900" marB="121900">
                      <a:lnL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lvl="0" algn="ctr">
                          <a:spcBef>
                            <a:spcPts val="0"/>
                          </a:spcBef>
                          <a:buNone/>
                        </a:pPr>
                        <a:r>
                          <a:rPr lang="en" sz="2500" dirty="0">
                            <a:latin typeface="Comic Sans MS"/>
                            <a:ea typeface="Comic Sans MS"/>
                            <a:cs typeface="Comic Sans MS"/>
                            <a:sym typeface="Comic Sans MS"/>
                          </a:rPr>
                          <a:t>0</a:t>
                        </a:r>
                      </a:p>
                    </a:txBody>
                    <a:tcPr marL="121900" marR="121900" marT="121900" marB="121900">
                      <a:lnL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lvl="0" algn="ctr">
                          <a:spcBef>
                            <a:spcPts val="0"/>
                          </a:spcBef>
                          <a:buNone/>
                        </a:pPr>
                        <a:r>
                          <a:rPr lang="en" sz="2500">
                            <a:latin typeface="Comic Sans MS"/>
                            <a:ea typeface="Comic Sans MS"/>
                            <a:cs typeface="Comic Sans MS"/>
                            <a:sym typeface="Comic Sans MS"/>
                          </a:rPr>
                          <a:t>0</a:t>
                        </a:r>
                      </a:p>
                    </a:txBody>
                    <a:tcPr marL="121900" marR="121900" marT="121900" marB="121900">
                      <a:lnL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lvl="0" algn="ctr">
                          <a:spcBef>
                            <a:spcPts val="0"/>
                          </a:spcBef>
                          <a:buNone/>
                        </a:pPr>
                        <a:r>
                          <a:rPr lang="en" sz="2500">
                            <a:latin typeface="Comic Sans MS"/>
                            <a:ea typeface="Comic Sans MS"/>
                            <a:cs typeface="Comic Sans MS"/>
                            <a:sym typeface="Comic Sans MS"/>
                          </a:rPr>
                          <a:t>0</a:t>
                        </a:r>
                      </a:p>
                    </a:txBody>
                    <a:tcPr marL="121900" marR="121900" marT="121900" marB="121900">
                      <a:lnL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lvl="0" algn="ctr">
                          <a:spcBef>
                            <a:spcPts val="0"/>
                          </a:spcBef>
                          <a:buNone/>
                        </a:pPr>
                        <a:r>
                          <a:rPr lang="en" sz="2500" dirty="0">
                            <a:latin typeface="Comic Sans MS"/>
                            <a:ea typeface="Comic Sans MS"/>
                            <a:cs typeface="Comic Sans MS"/>
                            <a:sym typeface="Comic Sans MS"/>
                          </a:rPr>
                          <a:t>0</a:t>
                        </a:r>
                      </a:p>
                    </a:txBody>
                    <a:tcPr marL="121900" marR="121900" marT="121900" marB="121900">
                      <a:lnL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00" name="Shape 100"/>
            <p:cNvSpPr txBox="1"/>
            <p:nvPr/>
          </p:nvSpPr>
          <p:spPr>
            <a:xfrm>
              <a:off x="3837705" y="3164800"/>
              <a:ext cx="1354328" cy="528401"/>
            </a:xfrm>
            <a:prstGeom prst="rect">
              <a:avLst/>
            </a:prstGeom>
            <a:noFill/>
            <a:ln>
              <a:noFill/>
            </a:ln>
          </p:spPr>
          <p:txBody>
            <a:bodyPr lIns="121900" tIns="121900" rIns="121900" bIns="121900" anchor="t" anchorCtr="0">
              <a:noAutofit/>
            </a:bodyPr>
            <a:lstStyle/>
            <a:p>
              <a:r>
                <a:rPr lang="en" sz="2000">
                  <a:solidFill>
                    <a:srgbClr val="0070C0"/>
                  </a:solidFill>
                  <a:latin typeface="Calibri" panose="020F0502020204030204" pitchFamily="34" charset="0"/>
                  <a:ea typeface="Nothing You Could Do"/>
                  <a:cs typeface="Calibri" panose="020F0502020204030204" pitchFamily="34" charset="0"/>
                  <a:sym typeface="Nothing You Could Do"/>
                </a:rPr>
                <a:t>King</a:t>
              </a:r>
            </a:p>
          </p:txBody>
        </p:sp>
        <p:graphicFrame>
          <p:nvGraphicFramePr>
            <p:cNvPr id="101" name="Shape 101"/>
            <p:cNvGraphicFramePr/>
            <p:nvPr/>
          </p:nvGraphicFramePr>
          <p:xfrm>
            <a:off x="5286633" y="4079268"/>
            <a:ext cx="5408289" cy="875393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6182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182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6182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61820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61820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623192">
                  <a:tc>
                    <a:txBody>
                      <a:bodyPr/>
                      <a:lstStyle/>
                      <a:p>
                        <a:pPr lvl="0" algn="ctr" rtl="0">
                          <a:spcBef>
                            <a:spcPts val="0"/>
                          </a:spcBef>
                          <a:buNone/>
                        </a:pPr>
                        <a:r>
                          <a:rPr lang="en" sz="2500">
                            <a:latin typeface="Comic Sans MS"/>
                            <a:ea typeface="Comic Sans MS"/>
                            <a:cs typeface="Comic Sans MS"/>
                            <a:sym typeface="Comic Sans MS"/>
                          </a:rPr>
                          <a:t>0</a:t>
                        </a:r>
                      </a:p>
                    </a:txBody>
                    <a:tcPr marL="121900" marR="121900" marT="121900" marB="121900">
                      <a:lnL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lvl="0" algn="ctr" rtl="0">
                          <a:spcBef>
                            <a:spcPts val="0"/>
                          </a:spcBef>
                          <a:buNone/>
                        </a:pPr>
                        <a:r>
                          <a:rPr lang="en" sz="2500">
                            <a:latin typeface="Comic Sans MS"/>
                            <a:ea typeface="Comic Sans MS"/>
                            <a:cs typeface="Comic Sans MS"/>
                            <a:sym typeface="Comic Sans MS"/>
                          </a:rPr>
                          <a:t>1</a:t>
                        </a:r>
                      </a:p>
                    </a:txBody>
                    <a:tcPr marL="121900" marR="121900" marT="121900" marB="121900">
                      <a:lnL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lvl="0" algn="ctr" rtl="0">
                          <a:spcBef>
                            <a:spcPts val="0"/>
                          </a:spcBef>
                          <a:buNone/>
                        </a:pPr>
                        <a:r>
                          <a:rPr lang="en" sz="2500">
                            <a:latin typeface="Comic Sans MS"/>
                            <a:ea typeface="Comic Sans MS"/>
                            <a:cs typeface="Comic Sans MS"/>
                            <a:sym typeface="Comic Sans MS"/>
                          </a:rPr>
                          <a:t>0</a:t>
                        </a:r>
                      </a:p>
                    </a:txBody>
                    <a:tcPr marL="121900" marR="121900" marT="121900" marB="121900">
                      <a:lnL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lvl="0" algn="ctr" rtl="0">
                          <a:spcBef>
                            <a:spcPts val="0"/>
                          </a:spcBef>
                          <a:buNone/>
                        </a:pPr>
                        <a:r>
                          <a:rPr lang="en" sz="2500">
                            <a:latin typeface="Comic Sans MS"/>
                            <a:ea typeface="Comic Sans MS"/>
                            <a:cs typeface="Comic Sans MS"/>
                            <a:sym typeface="Comic Sans MS"/>
                          </a:rPr>
                          <a:t>0</a:t>
                        </a:r>
                      </a:p>
                    </a:txBody>
                    <a:tcPr marL="121900" marR="121900" marT="121900" marB="121900">
                      <a:lnL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lvl="0" algn="ctr" rtl="0">
                          <a:spcBef>
                            <a:spcPts val="0"/>
                          </a:spcBef>
                          <a:buNone/>
                        </a:pPr>
                        <a:r>
                          <a:rPr lang="en" sz="2500">
                            <a:latin typeface="Comic Sans MS"/>
                            <a:ea typeface="Comic Sans MS"/>
                            <a:cs typeface="Comic Sans MS"/>
                            <a:sym typeface="Comic Sans MS"/>
                          </a:rPr>
                          <a:t>0</a:t>
                        </a:r>
                      </a:p>
                    </a:txBody>
                    <a:tcPr marL="121900" marR="121900" marT="121900" marB="121900">
                      <a:lnL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02" name="Shape 102"/>
            <p:cNvSpPr txBox="1"/>
            <p:nvPr/>
          </p:nvSpPr>
          <p:spPr>
            <a:xfrm>
              <a:off x="3515970" y="4149931"/>
              <a:ext cx="1858353" cy="528401"/>
            </a:xfrm>
            <a:prstGeom prst="rect">
              <a:avLst/>
            </a:prstGeom>
            <a:noFill/>
            <a:ln>
              <a:noFill/>
            </a:ln>
          </p:spPr>
          <p:txBody>
            <a:bodyPr lIns="121900" tIns="121900" rIns="121900" bIns="121900" anchor="t" anchorCtr="0">
              <a:noAutofit/>
            </a:bodyPr>
            <a:lstStyle/>
            <a:p>
              <a:r>
                <a:rPr lang="en" sz="2000" dirty="0">
                  <a:solidFill>
                    <a:srgbClr val="0070C0"/>
                  </a:solidFill>
                  <a:latin typeface="Calibri" panose="020F0502020204030204" pitchFamily="34" charset="0"/>
                  <a:ea typeface="Nothing You Could Do"/>
                  <a:cs typeface="Calibri" panose="020F0502020204030204" pitchFamily="34" charset="0"/>
                  <a:sym typeface="Nothing You Could Do"/>
                </a:rPr>
                <a:t>Queen</a:t>
              </a:r>
            </a:p>
          </p:txBody>
        </p:sp>
        <p:sp>
          <p:nvSpPr>
            <p:cNvPr id="103" name="Shape 103"/>
            <p:cNvSpPr txBox="1"/>
            <p:nvPr/>
          </p:nvSpPr>
          <p:spPr>
            <a:xfrm>
              <a:off x="3683522" y="4971416"/>
              <a:ext cx="1851895" cy="528401"/>
            </a:xfrm>
            <a:prstGeom prst="rect">
              <a:avLst/>
            </a:prstGeom>
            <a:noFill/>
            <a:ln>
              <a:noFill/>
            </a:ln>
          </p:spPr>
          <p:txBody>
            <a:bodyPr lIns="121900" tIns="121900" rIns="121900" bIns="121900" anchor="t" anchorCtr="0">
              <a:noAutofit/>
            </a:bodyPr>
            <a:lstStyle/>
            <a:p>
              <a:r>
                <a:rPr lang="en" sz="2000" dirty="0">
                  <a:solidFill>
                    <a:srgbClr val="0070C0"/>
                  </a:solidFill>
                  <a:latin typeface="Calibri" panose="020F0502020204030204" pitchFamily="34" charset="0"/>
                  <a:ea typeface="Nothing You Could Do"/>
                  <a:cs typeface="Calibri" panose="020F0502020204030204" pitchFamily="34" charset="0"/>
                  <a:sym typeface="Nothing You Could Do"/>
                </a:rPr>
                <a:t>Child</a:t>
              </a:r>
            </a:p>
          </p:txBody>
        </p:sp>
        <p:graphicFrame>
          <p:nvGraphicFramePr>
            <p:cNvPr id="104" name="Shape 104"/>
            <p:cNvGraphicFramePr/>
            <p:nvPr/>
          </p:nvGraphicFramePr>
          <p:xfrm>
            <a:off x="5286633" y="4993668"/>
            <a:ext cx="5408289" cy="875393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6182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182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6182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61820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61820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623192">
                  <a:tc>
                    <a:txBody>
                      <a:bodyPr/>
                      <a:lstStyle/>
                      <a:p>
                        <a:pPr lvl="0" algn="ctr" rtl="0">
                          <a:spcBef>
                            <a:spcPts val="0"/>
                          </a:spcBef>
                          <a:buNone/>
                        </a:pPr>
                        <a:r>
                          <a:rPr lang="en" sz="2500">
                            <a:latin typeface="Comic Sans MS"/>
                            <a:ea typeface="Comic Sans MS"/>
                            <a:cs typeface="Comic Sans MS"/>
                            <a:sym typeface="Comic Sans MS"/>
                          </a:rPr>
                          <a:t>0</a:t>
                        </a:r>
                      </a:p>
                    </a:txBody>
                    <a:tcPr marL="121900" marR="121900" marT="121900" marB="121900">
                      <a:lnL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lvl="0" algn="ctr" rtl="0">
                          <a:spcBef>
                            <a:spcPts val="0"/>
                          </a:spcBef>
                          <a:buNone/>
                        </a:pPr>
                        <a:r>
                          <a:rPr lang="en" sz="2500">
                            <a:latin typeface="Comic Sans MS"/>
                            <a:ea typeface="Comic Sans MS"/>
                            <a:cs typeface="Comic Sans MS"/>
                            <a:sym typeface="Comic Sans MS"/>
                          </a:rPr>
                          <a:t>0</a:t>
                        </a:r>
                      </a:p>
                    </a:txBody>
                    <a:tcPr marL="121900" marR="121900" marT="121900" marB="121900">
                      <a:lnL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lvl="0" algn="ctr" rtl="0">
                          <a:spcBef>
                            <a:spcPts val="0"/>
                          </a:spcBef>
                          <a:buNone/>
                        </a:pPr>
                        <a:r>
                          <a:rPr lang="en" sz="2500">
                            <a:latin typeface="Comic Sans MS"/>
                            <a:ea typeface="Comic Sans MS"/>
                            <a:cs typeface="Comic Sans MS"/>
                            <a:sym typeface="Comic Sans MS"/>
                          </a:rPr>
                          <a:t>0</a:t>
                        </a:r>
                      </a:p>
                    </a:txBody>
                    <a:tcPr marL="121900" marR="121900" marT="121900" marB="121900">
                      <a:lnL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lvl="0" algn="ctr" rtl="0">
                          <a:spcBef>
                            <a:spcPts val="0"/>
                          </a:spcBef>
                          <a:buNone/>
                        </a:pPr>
                        <a:r>
                          <a:rPr lang="en" sz="2500">
                            <a:latin typeface="Comic Sans MS"/>
                            <a:ea typeface="Comic Sans MS"/>
                            <a:cs typeface="Comic Sans MS"/>
                            <a:sym typeface="Comic Sans MS"/>
                          </a:rPr>
                          <a:t>0</a:t>
                        </a:r>
                      </a:p>
                    </a:txBody>
                    <a:tcPr marL="121900" marR="121900" marT="121900" marB="121900">
                      <a:lnL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lvl="0" algn="ctr" rtl="0">
                          <a:spcBef>
                            <a:spcPts val="0"/>
                          </a:spcBef>
                          <a:buNone/>
                        </a:pPr>
                        <a:r>
                          <a:rPr lang="en" sz="2500">
                            <a:latin typeface="Comic Sans MS"/>
                            <a:ea typeface="Comic Sans MS"/>
                            <a:cs typeface="Comic Sans MS"/>
                            <a:sym typeface="Comic Sans MS"/>
                          </a:rPr>
                          <a:t>1</a:t>
                        </a:r>
                      </a:p>
                    </a:txBody>
                    <a:tcPr marL="121900" marR="121900" marT="121900" marB="121900">
                      <a:lnL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9050" cap="flat" cmpd="sng">
                        <a:solidFill>
                          <a:srgbClr val="CCCC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pSp>
          <p:nvGrpSpPr>
            <p:cNvPr id="4" name="Group 3"/>
            <p:cNvGrpSpPr/>
            <p:nvPr/>
          </p:nvGrpSpPr>
          <p:grpSpPr>
            <a:xfrm>
              <a:off x="10525218" y="6311822"/>
              <a:ext cx="1553774" cy="526713"/>
              <a:chOff x="10525218" y="6311822"/>
              <a:chExt cx="1553774" cy="526713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11612198" y="6403798"/>
                <a:ext cx="4667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  <a:latin typeface="Raleway" panose="020B0003030101060003" pitchFamily="34" charset="0"/>
                  </a:rPr>
                  <a:t>06</a:t>
                </a:r>
                <a:endParaRPr lang="en-IN" dirty="0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10525218" y="6311822"/>
                <a:ext cx="957943" cy="5267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5768284" y="5988656"/>
              <a:ext cx="5640072" cy="9055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latin typeface="Calibri" panose="020F0502020204030204" pitchFamily="34" charset="0"/>
                  <a:cs typeface="Calibri" panose="020F0502020204030204" pitchFamily="34" charset="0"/>
                </a:rPr>
                <a:t>One hot-encoded </a:t>
              </a:r>
              <a:r>
                <a:rPr 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Vector representation of words.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1610618" y="1641374"/>
            <a:ext cx="92514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Vectorization is a technique of converting text into numbers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Machine can only understand numbers, hence we need to convert text into numbers.</a:t>
            </a:r>
            <a:endParaRPr lang="en-US" sz="1800" dirty="0">
              <a:solidFill>
                <a:srgbClr val="21212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Tf-idf</a:t>
            </a:r>
            <a:r>
              <a:rPr lang="en-US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one-hot encoding, bag of words, w2v are popular technique of vectorization.</a:t>
            </a:r>
            <a:endParaRPr lang="en-US" sz="1800" dirty="0">
              <a:solidFill>
                <a:srgbClr val="21212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128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/>
          <p:nvPr/>
        </p:nvSpPr>
        <p:spPr>
          <a:xfrm>
            <a:off x="1227991" y="588900"/>
            <a:ext cx="9674400" cy="5700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spcAft>
                <a:spcPts val="2133"/>
              </a:spcAft>
            </a:pPr>
            <a:endParaRPr lang="en" sz="3200" b="1" dirty="0">
              <a:solidFill>
                <a:srgbClr val="BF9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64890" y="692440"/>
            <a:ext cx="11750195" cy="523220"/>
            <a:chOff x="164890" y="692440"/>
            <a:chExt cx="11750195" cy="523220"/>
          </a:xfrm>
        </p:grpSpPr>
        <p:sp>
          <p:nvSpPr>
            <p:cNvPr id="13" name="TextBox 12"/>
            <p:cNvSpPr txBox="1"/>
            <p:nvPr/>
          </p:nvSpPr>
          <p:spPr>
            <a:xfrm>
              <a:off x="164890" y="692440"/>
              <a:ext cx="36576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133"/>
                </a:spcAft>
              </a:pPr>
              <a:r>
                <a:rPr lang="en" sz="2800" b="1" dirty="0">
                  <a:solidFill>
                    <a:srgbClr val="00B050"/>
                  </a:solidFill>
                  <a:ea typeface="Comic Sans MS"/>
                  <a:cs typeface="Comic Sans MS"/>
                  <a:sym typeface="Comic Sans MS"/>
                </a:rPr>
                <a:t>Vectorization: tf-idf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57644" y="1135140"/>
              <a:ext cx="11357441" cy="5953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37"/>
            </a:p>
          </p:txBody>
        </p:sp>
      </p:grpSp>
      <p:pic>
        <p:nvPicPr>
          <p:cNvPr id="2050" name="Picture 2" descr="Image result for tf-id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584" y="2350799"/>
            <a:ext cx="7709213" cy="316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399012" y="6162078"/>
            <a:ext cx="3332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Tf-idf</a:t>
            </a:r>
            <a:r>
              <a:rPr lang="en-US" b="1" dirty="0"/>
              <a:t> of word tokens</a:t>
            </a:r>
          </a:p>
        </p:txBody>
      </p:sp>
    </p:spTree>
    <p:extLst>
      <p:ext uri="{BB962C8B-B14F-4D97-AF65-F5344CB8AC3E}">
        <p14:creationId xmlns:p14="http://schemas.microsoft.com/office/powerpoint/2010/main" val="78395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/>
          <p:nvPr/>
        </p:nvSpPr>
        <p:spPr>
          <a:xfrm>
            <a:off x="1227991" y="588900"/>
            <a:ext cx="9674400" cy="5700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spcAft>
                <a:spcPts val="2133"/>
              </a:spcAft>
            </a:pPr>
            <a:endParaRPr lang="en" sz="3200" b="1" dirty="0">
              <a:solidFill>
                <a:srgbClr val="BF9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15297" y="715066"/>
            <a:ext cx="11699788" cy="523220"/>
            <a:chOff x="215297" y="715066"/>
            <a:chExt cx="11699788" cy="523220"/>
          </a:xfrm>
        </p:grpSpPr>
        <p:sp>
          <p:nvSpPr>
            <p:cNvPr id="13" name="TextBox 12"/>
            <p:cNvSpPr txBox="1"/>
            <p:nvPr/>
          </p:nvSpPr>
          <p:spPr>
            <a:xfrm>
              <a:off x="215297" y="715066"/>
              <a:ext cx="48568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133"/>
                </a:spcAft>
              </a:pPr>
              <a:r>
                <a:rPr lang="en" sz="2800" b="1" dirty="0">
                  <a:solidFill>
                    <a:srgbClr val="00B050"/>
                  </a:solidFill>
                  <a:ea typeface="Comic Sans MS"/>
                  <a:cs typeface="Comic Sans MS"/>
                  <a:sym typeface="Comic Sans MS"/>
                </a:rPr>
                <a:t>Vectorization: Word2Vector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57644" y="1135140"/>
              <a:ext cx="11357441" cy="5953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37"/>
            </a:p>
          </p:txBody>
        </p:sp>
      </p:grpSp>
      <p:sp>
        <p:nvSpPr>
          <p:cNvPr id="3" name="Rectangle 2"/>
          <p:cNvSpPr/>
          <p:nvPr/>
        </p:nvSpPr>
        <p:spPr>
          <a:xfrm>
            <a:off x="6839636" y="2653953"/>
            <a:ext cx="523244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an unique idea of presenting word into a set numbers ,called vector or in other words vector representation of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Word2Vec transforms a word into </a:t>
            </a:r>
            <a:r>
              <a:rPr lang="en-US" sz="1800" b="1" i="1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d-dimensional</a:t>
            </a:r>
            <a:r>
              <a:rPr lang="en-US" sz="18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Word2vec is a two-layer neural net that processes text.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input is a </a:t>
            </a:r>
            <a:r>
              <a:rPr lang="en-US" b="1" dirty="0"/>
              <a:t>text corpus </a:t>
            </a:r>
            <a:r>
              <a:rPr lang="en-US" dirty="0"/>
              <a:t>and its output is a set of </a:t>
            </a:r>
            <a:r>
              <a:rPr lang="en-US" b="1" dirty="0"/>
              <a:t>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For ex, the word ‘water’ has vector representation of 300 numbers.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90" y="2207436"/>
            <a:ext cx="6312947" cy="403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238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2" name="Rectangle 1"/>
          <p:cNvSpPr/>
          <p:nvPr/>
        </p:nvSpPr>
        <p:spPr>
          <a:xfrm>
            <a:off x="2343463" y="2709839"/>
            <a:ext cx="817963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Word </a:t>
            </a:r>
            <a:r>
              <a:rPr lang="en-US" b="0" i="0" dirty="0" err="1">
                <a:effectLst/>
              </a:rPr>
              <a:t>embeddings</a:t>
            </a:r>
            <a:r>
              <a:rPr lang="en-US" b="0" i="0" dirty="0">
                <a:effectLst/>
              </a:rPr>
              <a:t> are a class of techniques where individual words are represented as real-valued vectors in a </a:t>
            </a:r>
            <a:r>
              <a:rPr lang="en-US" b="1" i="0" dirty="0">
                <a:effectLst/>
              </a:rPr>
              <a:t>predefined vector space</a:t>
            </a:r>
            <a:r>
              <a:rPr lang="en-US" b="0" i="0" dirty="0">
                <a:effectLst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word is mapped to one vector and the vector values are learned in a way that resembles a neural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to the approach is the idea of using a </a:t>
            </a:r>
            <a:r>
              <a:rPr lang="en-US" b="1" dirty="0"/>
              <a:t>dense distributed representation </a:t>
            </a:r>
            <a:r>
              <a:rPr lang="en-US" dirty="0"/>
              <a:t>for each 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4774" y="725493"/>
            <a:ext cx="2945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Word embedding</a:t>
            </a:r>
          </a:p>
        </p:txBody>
      </p:sp>
    </p:spTree>
    <p:extLst>
      <p:ext uri="{BB962C8B-B14F-4D97-AF65-F5344CB8AC3E}">
        <p14:creationId xmlns:p14="http://schemas.microsoft.com/office/powerpoint/2010/main" val="3944216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12D1F7-FAA3-416F-82F8-66483F7A6267}"/>
              </a:ext>
            </a:extLst>
          </p:cNvPr>
          <p:cNvSpPr/>
          <p:nvPr/>
        </p:nvSpPr>
        <p:spPr>
          <a:xfrm>
            <a:off x="557644" y="1135140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6" name="TextBox 5"/>
          <p:cNvSpPr txBox="1"/>
          <p:nvPr/>
        </p:nvSpPr>
        <p:spPr>
          <a:xfrm>
            <a:off x="-337856" y="671450"/>
            <a:ext cx="5078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Why word embedding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1452399" y="1416513"/>
            <a:ext cx="92381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Primarily One-hot has a major problem;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Each word is represented by a real-valued vector, often tens or hundreds of dimensions.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This is contrasted to the thousands or millions of dimensions required for sparse word representations, such as a one-hot encoding.</a:t>
            </a:r>
            <a:endParaRPr lang="en-US" dirty="0"/>
          </a:p>
          <a:p>
            <a:endParaRPr lang="en-US" dirty="0">
              <a:solidFill>
                <a:srgbClr val="21212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b="1" dirty="0">
              <a:solidFill>
                <a:srgbClr val="21212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One-hot produces a very sparse data table with a very high number of 0s, which might be a problem for training certain machine learning algorithms.</a:t>
            </a:r>
          </a:p>
        </p:txBody>
      </p:sp>
      <p:pic>
        <p:nvPicPr>
          <p:cNvPr id="1026" name="Picture 2" descr="https://i.imgur.com/mtimFxh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270" y="4223680"/>
            <a:ext cx="6203715" cy="243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627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997993349"/>
              </p:ext>
            </p:extLst>
          </p:nvPr>
        </p:nvGraphicFramePr>
        <p:xfrm>
          <a:off x="1028545" y="1365440"/>
          <a:ext cx="5099439" cy="5286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BB57869-BEC5-41BE-8978-5D2D500FF8FF}"/>
              </a:ext>
            </a:extLst>
          </p:cNvPr>
          <p:cNvSpPr/>
          <p:nvPr/>
        </p:nvSpPr>
        <p:spPr>
          <a:xfrm>
            <a:off x="557644" y="1135140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</p:spTree>
    <p:extLst>
      <p:ext uri="{BB962C8B-B14F-4D97-AF65-F5344CB8AC3E}">
        <p14:creationId xmlns:p14="http://schemas.microsoft.com/office/powerpoint/2010/main" val="1653387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95C1-92FD-464D-B6FA-40EEF2D5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3A3A3A"/>
                </a:solidFill>
                <a:effectLst/>
                <a:latin typeface="Poppins" panose="00000500000000000000" pitchFamily="2" charset="0"/>
              </a:rPr>
              <a:t>Word2Vec 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922F9-AF9A-4CD3-9614-9CF344C7F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34449" cy="4351338"/>
          </a:xfrm>
        </p:spPr>
        <p:txBody>
          <a:bodyPr/>
          <a:lstStyle/>
          <a:p>
            <a:r>
              <a:rPr lang="en-US" b="0" i="0" dirty="0">
                <a:solidFill>
                  <a:srgbClr val="3A3A3A"/>
                </a:solidFill>
                <a:effectLst/>
                <a:latin typeface="Public Sans"/>
              </a:rPr>
              <a:t>With Word2Vec, we train a neural network with a single hidden layer to predict a </a:t>
            </a:r>
            <a:r>
              <a:rPr lang="en-US" b="1" i="0" dirty="0">
                <a:solidFill>
                  <a:srgbClr val="3A3A3A"/>
                </a:solidFill>
                <a:effectLst/>
                <a:latin typeface="Public Sans"/>
              </a:rPr>
              <a:t>target word</a:t>
            </a:r>
            <a:r>
              <a:rPr lang="en-US" b="0" i="0" dirty="0">
                <a:solidFill>
                  <a:srgbClr val="3A3A3A"/>
                </a:solidFill>
                <a:effectLst/>
                <a:latin typeface="Public Sans"/>
              </a:rPr>
              <a:t> based on its </a:t>
            </a:r>
            <a:r>
              <a:rPr lang="en-US" b="1" i="0" dirty="0">
                <a:solidFill>
                  <a:srgbClr val="3A3A3A"/>
                </a:solidFill>
                <a:effectLst/>
                <a:latin typeface="Public Sans"/>
              </a:rPr>
              <a:t>context</a:t>
            </a:r>
            <a:r>
              <a:rPr lang="en-US" b="0" i="0" dirty="0">
                <a:solidFill>
                  <a:srgbClr val="3A3A3A"/>
                </a:solidFill>
                <a:effectLst/>
                <a:latin typeface="Public Sans"/>
              </a:rPr>
              <a:t> (</a:t>
            </a:r>
            <a:r>
              <a:rPr lang="en-US" b="1" i="0" dirty="0">
                <a:solidFill>
                  <a:srgbClr val="3A3A3A"/>
                </a:solidFill>
                <a:effectLst/>
                <a:latin typeface="Public Sans"/>
              </a:rPr>
              <a:t>neighboring words</a:t>
            </a:r>
            <a:r>
              <a:rPr lang="en-US" b="0" i="0" dirty="0">
                <a:solidFill>
                  <a:srgbClr val="3A3A3A"/>
                </a:solidFill>
                <a:effectLst/>
                <a:latin typeface="Public Sans"/>
              </a:rPr>
              <a:t>). The assumption here is that </a:t>
            </a:r>
            <a:r>
              <a:rPr lang="en-US" b="0" i="1" dirty="0">
                <a:solidFill>
                  <a:srgbClr val="3A3A3A"/>
                </a:solidFill>
                <a:effectLst/>
                <a:latin typeface="Public Sans"/>
              </a:rPr>
              <a:t>the meaning of a word can be inferred by the company it keeps</a:t>
            </a:r>
            <a:r>
              <a:rPr lang="en-US" b="0" i="0" dirty="0">
                <a:solidFill>
                  <a:srgbClr val="3A3A3A"/>
                </a:solidFill>
                <a:effectLst/>
                <a:latin typeface="Public Sans"/>
              </a:rPr>
              <a:t>.</a:t>
            </a:r>
            <a:endParaRPr lang="en-IN" dirty="0"/>
          </a:p>
        </p:txBody>
      </p:sp>
      <p:pic>
        <p:nvPicPr>
          <p:cNvPr id="4" name="Picture 4" descr="Hand with red strings">
            <a:extLst>
              <a:ext uri="{FF2B5EF4-FFF2-40B4-BE49-F238E27FC236}">
                <a16:creationId xmlns:a16="http://schemas.microsoft.com/office/drawing/2014/main" id="{321C0F72-C5CF-4A8D-A7B4-098F620C92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197" r="28211" b="-1"/>
          <a:stretch/>
        </p:blipFill>
        <p:spPr>
          <a:xfrm>
            <a:off x="8124251" y="0"/>
            <a:ext cx="406774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482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12D1F7-FAA3-416F-82F8-66483F7A6267}"/>
              </a:ext>
            </a:extLst>
          </p:cNvPr>
          <p:cNvSpPr/>
          <p:nvPr/>
        </p:nvSpPr>
        <p:spPr>
          <a:xfrm>
            <a:off x="557644" y="1171584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6" name="TextBox 5"/>
          <p:cNvSpPr txBox="1"/>
          <p:nvPr/>
        </p:nvSpPr>
        <p:spPr>
          <a:xfrm>
            <a:off x="422030" y="683426"/>
            <a:ext cx="4419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How does Word2Vec work?</a:t>
            </a:r>
          </a:p>
        </p:txBody>
      </p:sp>
      <p:sp>
        <p:nvSpPr>
          <p:cNvPr id="2" name="Rectangle 1"/>
          <p:cNvSpPr/>
          <p:nvPr/>
        </p:nvSpPr>
        <p:spPr>
          <a:xfrm>
            <a:off x="664563" y="1565336"/>
            <a:ext cx="104431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Word2Vec concepts tries to establish a semantic relationship of a word with other word.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Here semantic relationship means relating or similar relationship.</a:t>
            </a:r>
          </a:p>
        </p:txBody>
      </p:sp>
      <p:pic>
        <p:nvPicPr>
          <p:cNvPr id="7" name="Shape 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563" y="2721867"/>
            <a:ext cx="3327400" cy="33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Shape 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4459" y="3202484"/>
            <a:ext cx="30226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Shape 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7185" y="2831967"/>
            <a:ext cx="3517900" cy="3644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9634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jalammar.github.io/images/word2vec/introversion-extraversion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568" y="3257857"/>
            <a:ext cx="4289592" cy="3038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44773" y="715078"/>
            <a:ext cx="4901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How does W</a:t>
            </a: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ord2vector work? </a:t>
            </a:r>
            <a:endParaRPr lang="en-US" sz="2800" b="1" spc="100" dirty="0">
              <a:solidFill>
                <a:srgbClr val="00B05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13613" y="1592943"/>
            <a:ext cx="7255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Let’s say Jay has -0.4 Extraversion score.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means that Extraversion of Jay is represented by a number of -0.4.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D22AC6-1861-4A6A-9B2B-B5867075EFFB}"/>
              </a:ext>
            </a:extLst>
          </p:cNvPr>
          <p:cNvSpPr/>
          <p:nvPr/>
        </p:nvSpPr>
        <p:spPr>
          <a:xfrm>
            <a:off x="557644" y="1135140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</p:spTree>
    <p:extLst>
      <p:ext uri="{BB962C8B-B14F-4D97-AF65-F5344CB8AC3E}">
        <p14:creationId xmlns:p14="http://schemas.microsoft.com/office/powerpoint/2010/main" val="782158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pic>
        <p:nvPicPr>
          <p:cNvPr id="6" name="Picture 6" descr="http://jalammar.github.io/images/word2vec/two-traits-vecto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699" y="3754257"/>
            <a:ext cx="4860498" cy="288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44773" y="715078"/>
            <a:ext cx="4901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How does W</a:t>
            </a: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ord2vector work? </a:t>
            </a:r>
            <a:endParaRPr lang="en-US" sz="2800" b="1" spc="100" dirty="0">
              <a:solidFill>
                <a:srgbClr val="00B05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96513" y="1672008"/>
            <a:ext cx="80796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 humans have many other traits, so we can score the traits accordingly.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 that’s how we can have numbers for each trait(word in this case).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 each word has a particular weight and direction, we can say that each number has vector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3259369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6" name="Rectangle 5"/>
          <p:cNvSpPr/>
          <p:nvPr/>
        </p:nvSpPr>
        <p:spPr>
          <a:xfrm>
            <a:off x="5756086" y="2798242"/>
            <a:ext cx="643591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</a:rPr>
              <a:t>We can now say that this vector partially represents Jay’s personality.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</a:rPr>
              <a:t>The usefulness of such representation comes when you want to compare two other people to Jay.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</a:rPr>
              <a:t>Say Jay gets hit by a bus </a:t>
            </a:r>
            <a:r>
              <a:rPr lang="en-US" dirty="0"/>
              <a:t>and he needs to be replaced by someone with a similar personality.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following figure, which of the two people is more similar to Jay?</a:t>
            </a:r>
          </a:p>
        </p:txBody>
      </p:sp>
      <p:pic>
        <p:nvPicPr>
          <p:cNvPr id="8195" name="Picture 3" descr="http://jalammar.github.io/images/word2vec/personality-two-perso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70" y="2343457"/>
            <a:ext cx="5433288" cy="3217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44773" y="715078"/>
            <a:ext cx="4901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How does W</a:t>
            </a: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ord2vector work? </a:t>
            </a:r>
            <a:endParaRPr lang="en-US" sz="2800" b="1" spc="1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621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pic>
        <p:nvPicPr>
          <p:cNvPr id="10242" name="Picture 2" descr="http://jalammar.github.io/images/word2vec/cosine-similarit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655" y="2559648"/>
            <a:ext cx="8597449" cy="2836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24260" y="1699317"/>
            <a:ext cx="9593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use cosine similarity ,we find that person1 is close to Jay based on higher cosine similarity.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773" y="715078"/>
            <a:ext cx="4901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How does W</a:t>
            </a: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ord2vector work? </a:t>
            </a:r>
            <a:endParaRPr lang="en-US" sz="2800" b="1" spc="1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39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2" name="TextBox 1"/>
          <p:cNvSpPr txBox="1"/>
          <p:nvPr/>
        </p:nvSpPr>
        <p:spPr>
          <a:xfrm>
            <a:off x="2371454" y="1697126"/>
            <a:ext cx="6550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Though lower dimension captures minimum information.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cosine similarity can work with any dimension.</a:t>
            </a:r>
          </a:p>
        </p:txBody>
      </p:sp>
      <p:pic>
        <p:nvPicPr>
          <p:cNvPr id="11266" name="Picture 2" descr="http://jalammar.github.io/images/word2vec/embeddings-cosine-personalit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454" y="3668919"/>
            <a:ext cx="6635730" cy="1952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44773" y="715078"/>
            <a:ext cx="4901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How does W</a:t>
            </a: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ord2vector work? </a:t>
            </a:r>
            <a:endParaRPr lang="en-US" sz="2800" b="1" spc="1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128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pic>
        <p:nvPicPr>
          <p:cNvPr id="12290" name="Picture 2" descr="http://jalammar.github.io/images/word2vec/section-1-takeaway-vectors-cosin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157" y="1937738"/>
            <a:ext cx="7690569" cy="3578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3567" y="685098"/>
            <a:ext cx="3597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Usefulness of w2v</a:t>
            </a:r>
            <a:endParaRPr lang="en-US" sz="2800" b="1" spc="1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991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12D1F7-FAA3-416F-82F8-66483F7A6267}"/>
              </a:ext>
            </a:extLst>
          </p:cNvPr>
          <p:cNvSpPr/>
          <p:nvPr/>
        </p:nvSpPr>
        <p:spPr>
          <a:xfrm>
            <a:off x="557644" y="1135140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6" name="TextBox 5"/>
          <p:cNvSpPr txBox="1"/>
          <p:nvPr/>
        </p:nvSpPr>
        <p:spPr>
          <a:xfrm>
            <a:off x="450165" y="682260"/>
            <a:ext cx="6372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Purpose and usefulness of Word2Vectors</a:t>
            </a:r>
          </a:p>
        </p:txBody>
      </p:sp>
      <p:sp>
        <p:nvSpPr>
          <p:cNvPr id="2" name="Rectangle 1"/>
          <p:cNvSpPr/>
          <p:nvPr/>
        </p:nvSpPr>
        <p:spPr>
          <a:xfrm>
            <a:off x="1938683" y="3080814"/>
            <a:ext cx="921433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purpose and usefulness of Word2vec is to group the vectors of similar words together in </a:t>
            </a:r>
            <a:r>
              <a:rPr lang="en-US" dirty="0" err="1"/>
              <a:t>vectorspace</a:t>
            </a:r>
            <a:r>
              <a:rPr lang="en-US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That is, it detects </a:t>
            </a:r>
            <a:r>
              <a:rPr lang="en-US" b="1" dirty="0"/>
              <a:t>similarities</a:t>
            </a:r>
            <a:r>
              <a:rPr lang="en-US" dirty="0"/>
              <a:t> mathematically(default is cosine).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Word2vec creates vectors that are distributed numerical representations of word features, features such as the context of individual words. </a:t>
            </a:r>
            <a:endParaRPr lang="en-US" b="1" dirty="0">
              <a:solidFill>
                <a:srgbClr val="21212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309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12D1F7-FAA3-416F-82F8-66483F7A6267}"/>
              </a:ext>
            </a:extLst>
          </p:cNvPr>
          <p:cNvSpPr/>
          <p:nvPr/>
        </p:nvSpPr>
        <p:spPr>
          <a:xfrm>
            <a:off x="557644" y="1135140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6" name="TextBox 5"/>
          <p:cNvSpPr txBox="1"/>
          <p:nvPr/>
        </p:nvSpPr>
        <p:spPr>
          <a:xfrm>
            <a:off x="393895" y="671450"/>
            <a:ext cx="4304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Similarity in Word2Vectors</a:t>
            </a:r>
          </a:p>
        </p:txBody>
      </p:sp>
      <p:pic>
        <p:nvPicPr>
          <p:cNvPr id="1028" name="Picture 4" descr="Image result for word2ve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818" y="3726311"/>
            <a:ext cx="8313589" cy="2996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165086" y="1413439"/>
            <a:ext cx="101425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Cosine similarity is used to measure similarity between the words. 1 denotes two words are completely similar whereas 0 denotes they are complete dissimilar.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below example, the degree of relationship between Royalty and King, Queen, Princess is </a:t>
            </a:r>
            <a:r>
              <a:rPr lang="en-US" b="1" dirty="0"/>
              <a:t>0.99</a:t>
            </a:r>
            <a:r>
              <a:rPr lang="en-US" dirty="0"/>
              <a:t> because they are very similar.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Whereas degree of relation between Femininity and King is </a:t>
            </a:r>
            <a:r>
              <a:rPr lang="en-US" b="1" dirty="0"/>
              <a:t>0.05</a:t>
            </a:r>
            <a:r>
              <a:rPr lang="en-US" dirty="0"/>
              <a:t>(Very dissimilar).</a:t>
            </a:r>
          </a:p>
        </p:txBody>
      </p:sp>
    </p:spTree>
    <p:extLst>
      <p:ext uri="{BB962C8B-B14F-4D97-AF65-F5344CB8AC3E}">
        <p14:creationId xmlns:p14="http://schemas.microsoft.com/office/powerpoint/2010/main" val="2110411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12D1F7-FAA3-416F-82F8-66483F7A6267}"/>
              </a:ext>
            </a:extLst>
          </p:cNvPr>
          <p:cNvSpPr/>
          <p:nvPr/>
        </p:nvSpPr>
        <p:spPr>
          <a:xfrm>
            <a:off x="557644" y="1135140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6" name="TextBox 5"/>
          <p:cNvSpPr txBox="1"/>
          <p:nvPr/>
        </p:nvSpPr>
        <p:spPr>
          <a:xfrm>
            <a:off x="450165" y="641685"/>
            <a:ext cx="7202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Let’s take another example of  Word similarity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0044"/>
            <a:ext cx="5893159" cy="3967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1348" y="1420837"/>
            <a:ext cx="8384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Word2Vec automatically finds similarity and cluster the words based on being similar.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Basketball is the most dissimilar choice in the example below.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9583" y="3821899"/>
            <a:ext cx="6855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Vector representation of the words </a:t>
            </a:r>
            <a:r>
              <a:rPr lang="en-US" dirty="0">
                <a:solidFill>
                  <a:srgbClr val="0070C0"/>
                </a:solidFill>
              </a:rPr>
              <a:t>Delicious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Lip-smacking , Pudding , Tasty</a:t>
            </a:r>
            <a:r>
              <a:rPr lang="en-US" dirty="0"/>
              <a:t> capture much information about one another.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other words the vectors of the words are very similar.</a:t>
            </a:r>
          </a:p>
        </p:txBody>
      </p:sp>
    </p:spTree>
    <p:extLst>
      <p:ext uri="{BB962C8B-B14F-4D97-AF65-F5344CB8AC3E}">
        <p14:creationId xmlns:p14="http://schemas.microsoft.com/office/powerpoint/2010/main" val="1413200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 txBox="1"/>
          <p:nvPr/>
        </p:nvSpPr>
        <p:spPr>
          <a:xfrm>
            <a:off x="7610224" y="2663578"/>
            <a:ext cx="4724878" cy="19244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pPr marL="304793">
              <a:lnSpc>
                <a:spcPct val="150000"/>
              </a:lnSpc>
            </a:pPr>
            <a:r>
              <a:rPr lang="en" sz="1800" dirty="0">
                <a:latin typeface="Roboto"/>
                <a:ea typeface="Roboto"/>
                <a:cs typeface="Roboto"/>
                <a:sym typeface="Roboto"/>
              </a:rPr>
              <a:t>If we take a look at the color coded vector of each word, we will find that Queen and king have similar color representation and in the same way girl</a:t>
            </a:r>
            <a:r>
              <a:rPr lang="en" sz="1800" dirty="0">
                <a:latin typeface="Roboto"/>
                <a:ea typeface="Roboto"/>
                <a:cs typeface="Roboto"/>
                <a:sym typeface="Wingdings" panose="05000000000000000000" pitchFamily="2" charset="2"/>
              </a:rPr>
              <a:t> boy, woman man</a:t>
            </a:r>
            <a:endParaRPr lang="en" sz="1800" dirty="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-390140" y="713187"/>
            <a:ext cx="12305225" cy="523220"/>
            <a:chOff x="-390140" y="713187"/>
            <a:chExt cx="12305225" cy="523220"/>
          </a:xfrm>
        </p:grpSpPr>
        <p:sp>
          <p:nvSpPr>
            <p:cNvPr id="5" name="TextBox 4"/>
            <p:cNvSpPr txBox="1"/>
            <p:nvPr/>
          </p:nvSpPr>
          <p:spPr>
            <a:xfrm>
              <a:off x="-390140" y="713187"/>
              <a:ext cx="46042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" sz="2800" b="1" dirty="0">
                  <a:solidFill>
                    <a:srgbClr val="00B050"/>
                  </a:solidFill>
                  <a:ea typeface="Comic Sans MS"/>
                  <a:cs typeface="Comic Sans MS"/>
                  <a:sym typeface="Comic Sans MS"/>
                </a:rPr>
                <a:t>Similarity of words</a:t>
              </a:r>
              <a:endParaRPr lang="en-US" sz="2800" b="1" spc="100" dirty="0">
                <a:solidFill>
                  <a:srgbClr val="00B050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557644" y="1135140"/>
              <a:ext cx="11357441" cy="5953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37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0525218" y="6311822"/>
            <a:ext cx="1552172" cy="526713"/>
            <a:chOff x="10525218" y="6311822"/>
            <a:chExt cx="1552172" cy="526713"/>
          </a:xfrm>
        </p:grpSpPr>
        <p:sp>
          <p:nvSpPr>
            <p:cNvPr id="16" name="Rectangle 15"/>
            <p:cNvSpPr/>
            <p:nvPr/>
          </p:nvSpPr>
          <p:spPr>
            <a:xfrm>
              <a:off x="11612198" y="6403798"/>
              <a:ext cx="4651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Raleway" panose="020B0003030101060003" pitchFamily="34" charset="0"/>
                </a:rPr>
                <a:t>08</a:t>
              </a:r>
              <a:endParaRPr lang="en-IN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25218" y="6311822"/>
              <a:ext cx="957943" cy="5267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3314" name="Picture 2" descr="http://jalammar.github.io/images/word2vec/queen-woman-girl-embedding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663578"/>
            <a:ext cx="7881973" cy="294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6802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46;p28">
            <a:extLst>
              <a:ext uri="{FF2B5EF4-FFF2-40B4-BE49-F238E27FC236}">
                <a16:creationId xmlns:a16="http://schemas.microsoft.com/office/drawing/2014/main" id="{2D7EECF4-2A52-40B6-9979-C0B9809628A8}"/>
              </a:ext>
            </a:extLst>
          </p:cNvPr>
          <p:cNvGrpSpPr/>
          <p:nvPr/>
        </p:nvGrpSpPr>
        <p:grpSpPr>
          <a:xfrm>
            <a:off x="557645" y="337125"/>
            <a:ext cx="11357441" cy="913046"/>
            <a:chOff x="557644" y="281625"/>
            <a:chExt cx="11357441" cy="913045"/>
          </a:xfrm>
        </p:grpSpPr>
        <p:grpSp>
          <p:nvGrpSpPr>
            <p:cNvPr id="5" name="Google Shape;147;p28">
              <a:extLst>
                <a:ext uri="{FF2B5EF4-FFF2-40B4-BE49-F238E27FC236}">
                  <a16:creationId xmlns:a16="http://schemas.microsoft.com/office/drawing/2014/main" id="{EDC3ED98-DD00-46B6-BF64-243A693AC01B}"/>
                </a:ext>
              </a:extLst>
            </p:cNvPr>
            <p:cNvGrpSpPr/>
            <p:nvPr/>
          </p:nvGrpSpPr>
          <p:grpSpPr>
            <a:xfrm>
              <a:off x="3179913" y="281625"/>
              <a:ext cx="5325035" cy="853515"/>
              <a:chOff x="3205793" y="21796"/>
              <a:chExt cx="5325035" cy="853515"/>
            </a:xfrm>
          </p:grpSpPr>
          <p:sp>
            <p:nvSpPr>
              <p:cNvPr id="9" name="Google Shape;148;p28">
                <a:extLst>
                  <a:ext uri="{FF2B5EF4-FFF2-40B4-BE49-F238E27FC236}">
                    <a16:creationId xmlns:a16="http://schemas.microsoft.com/office/drawing/2014/main" id="{2BD28950-A06B-4112-97B3-A01C71775573}"/>
                  </a:ext>
                </a:extLst>
              </p:cNvPr>
              <p:cNvSpPr txBox="1"/>
              <p:nvPr/>
            </p:nvSpPr>
            <p:spPr>
              <a:xfrm>
                <a:off x="3205793" y="352091"/>
                <a:ext cx="5325035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algn="ctr"/>
                <a:endParaRPr sz="2800">
                  <a:solidFill>
                    <a:srgbClr val="44546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" name="Google Shape;149;p28">
                <a:extLst>
                  <a:ext uri="{FF2B5EF4-FFF2-40B4-BE49-F238E27FC236}">
                    <a16:creationId xmlns:a16="http://schemas.microsoft.com/office/drawing/2014/main" id="{67F74FDA-EB75-48C1-A2F5-5499391D9CEC}"/>
                  </a:ext>
                </a:extLst>
              </p:cNvPr>
              <p:cNvSpPr txBox="1"/>
              <p:nvPr/>
            </p:nvSpPr>
            <p:spPr>
              <a:xfrm>
                <a:off x="5969132" y="21796"/>
                <a:ext cx="184731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algn="ctr"/>
                <a:endParaRPr sz="1100"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sp>
          <p:nvSpPr>
            <p:cNvPr id="8" name="Google Shape;152;p28">
              <a:extLst>
                <a:ext uri="{FF2B5EF4-FFF2-40B4-BE49-F238E27FC236}">
                  <a16:creationId xmlns:a16="http://schemas.microsoft.com/office/drawing/2014/main" id="{6FAD9CD1-E253-4651-BC99-69249979BD8A}"/>
                </a:ext>
              </a:extLst>
            </p:cNvPr>
            <p:cNvSpPr/>
            <p:nvPr/>
          </p:nvSpPr>
          <p:spPr>
            <a:xfrm>
              <a:off x="557644" y="1135140"/>
              <a:ext cx="11357441" cy="59530"/>
            </a:xfrm>
            <a:prstGeom prst="rect">
              <a:avLst/>
            </a:prstGeom>
            <a:solidFill>
              <a:srgbClr val="0070C0"/>
            </a:solidFill>
            <a:ln w="1270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937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1669936180"/>
              </p:ext>
            </p:extLst>
          </p:nvPr>
        </p:nvGraphicFramePr>
        <p:xfrm>
          <a:off x="1028545" y="1365440"/>
          <a:ext cx="5099439" cy="5286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6578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12D1F7-FAA3-416F-82F8-66483F7A6267}"/>
              </a:ext>
            </a:extLst>
          </p:cNvPr>
          <p:cNvSpPr/>
          <p:nvPr/>
        </p:nvSpPr>
        <p:spPr>
          <a:xfrm>
            <a:off x="557644" y="1135140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2" name="TextBox 1"/>
          <p:cNvSpPr txBox="1"/>
          <p:nvPr/>
        </p:nvSpPr>
        <p:spPr>
          <a:xfrm>
            <a:off x="1888761" y="2429102"/>
            <a:ext cx="923394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Word2Vec is a Language Model technique that  works on two algorithms;</a:t>
            </a:r>
          </a:p>
          <a:p>
            <a:pPr marL="2286000" lvl="6" indent="-457200">
              <a:buAutoNum type="arabicPeriod"/>
            </a:pP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0" lvl="6" indent="-457200">
              <a:buAutoNum type="arabicPeriod"/>
            </a:pP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0" lvl="6" indent="-457200">
              <a:buAutoNum type="arabicPeriod"/>
            </a:pP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CBOW(continuous bag of words)</a:t>
            </a:r>
          </a:p>
          <a:p>
            <a:pPr marL="2286000" lvl="6" indent="-457200">
              <a:buAutoNum type="arabicPeriod"/>
            </a:pP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Skip-Gram</a:t>
            </a:r>
          </a:p>
        </p:txBody>
      </p:sp>
    </p:spTree>
    <p:extLst>
      <p:ext uri="{BB962C8B-B14F-4D97-AF65-F5344CB8AC3E}">
        <p14:creationId xmlns:p14="http://schemas.microsoft.com/office/powerpoint/2010/main" val="2381000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/>
          <p:nvPr/>
        </p:nvSpPr>
        <p:spPr>
          <a:xfrm>
            <a:off x="882964" y="418281"/>
            <a:ext cx="10706800" cy="5700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spcAft>
                <a:spcPts val="2133"/>
              </a:spcAft>
            </a:pPr>
            <a:endParaRPr lang="en" sz="3200" b="1" dirty="0">
              <a:solidFill>
                <a:srgbClr val="BF9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9" name="Shape 129"/>
          <p:cNvSpPr txBox="1"/>
          <p:nvPr/>
        </p:nvSpPr>
        <p:spPr>
          <a:xfrm>
            <a:off x="557644" y="2155450"/>
            <a:ext cx="4562996" cy="5888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>
              <a:lnSpc>
                <a:spcPct val="150000"/>
              </a:lnSpc>
            </a:pPr>
            <a:endParaRPr lang="en" sz="1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Roboto"/>
              <a:cs typeface="Calibri" panose="020F0502020204030204" pitchFamily="34" charset="0"/>
              <a:sym typeface="Roboto"/>
            </a:endParaRPr>
          </a:p>
        </p:txBody>
      </p:sp>
      <p:graphicFrame>
        <p:nvGraphicFramePr>
          <p:cNvPr id="130" name="Shape 130"/>
          <p:cNvGraphicFramePr/>
          <p:nvPr/>
        </p:nvGraphicFramePr>
        <p:xfrm>
          <a:off x="624231" y="2986400"/>
          <a:ext cx="6723666" cy="627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20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06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06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740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</a:p>
                  </a:txBody>
                  <a:tcPr marL="122407" marR="122407" marT="122407" marB="122407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Sun</a:t>
                      </a:r>
                    </a:p>
                  </a:txBody>
                  <a:tcPr marL="122407" marR="122407" marT="122407" marB="122407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rises</a:t>
                      </a:r>
                    </a:p>
                  </a:txBody>
                  <a:tcPr marL="122407" marR="122407" marT="122407" marB="122407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</a:t>
                      </a:r>
                    </a:p>
                  </a:txBody>
                  <a:tcPr marL="122407" marR="122407" marT="122407" marB="122407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</a:p>
                  </a:txBody>
                  <a:tcPr marL="122407" marR="122407" marT="122407" marB="122407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25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east</a:t>
                      </a:r>
                    </a:p>
                  </a:txBody>
                  <a:tcPr marL="122407" marR="122407" marT="122407" marB="1224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1" name="Shape 131"/>
          <p:cNvSpPr txBox="1"/>
          <p:nvPr/>
        </p:nvSpPr>
        <p:spPr>
          <a:xfrm>
            <a:off x="7813733" y="2986400"/>
            <a:ext cx="2802400" cy="5284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000" dirty="0">
                <a:solidFill>
                  <a:srgbClr val="0070C0"/>
                </a:solidFill>
                <a:latin typeface="Calibri" panose="020F0502020204030204" pitchFamily="34" charset="0"/>
                <a:ea typeface="Nothing You Could Do"/>
                <a:cs typeface="Calibri" panose="020F0502020204030204" pitchFamily="34" charset="0"/>
                <a:sym typeface="Nothing You Could Do"/>
              </a:rPr>
              <a:t>(The, sun)</a:t>
            </a:r>
          </a:p>
        </p:txBody>
      </p:sp>
      <p:graphicFrame>
        <p:nvGraphicFramePr>
          <p:cNvPr id="132" name="Shape 132"/>
          <p:cNvGraphicFramePr/>
          <p:nvPr/>
        </p:nvGraphicFramePr>
        <p:xfrm>
          <a:off x="624233" y="3903400"/>
          <a:ext cx="6695802" cy="6248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15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9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59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3192"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Sun</a:t>
                      </a:r>
                    </a:p>
                  </a:txBody>
                  <a:tcPr marL="121900" marR="121900" marT="121900" marB="1219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rises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east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" name="Shape 133"/>
          <p:cNvSpPr txBox="1"/>
          <p:nvPr/>
        </p:nvSpPr>
        <p:spPr>
          <a:xfrm>
            <a:off x="7813733" y="3900800"/>
            <a:ext cx="2802400" cy="5284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000" dirty="0">
                <a:solidFill>
                  <a:srgbClr val="0070C0"/>
                </a:solidFill>
                <a:latin typeface="Calibri" panose="020F0502020204030204" pitchFamily="34" charset="0"/>
                <a:ea typeface="Nothing You Could Do"/>
                <a:cs typeface="Calibri" panose="020F0502020204030204" pitchFamily="34" charset="0"/>
                <a:sym typeface="Nothing You Could Do"/>
              </a:rPr>
              <a:t>(Sun, The) (Sun, rises)</a:t>
            </a:r>
          </a:p>
        </p:txBody>
      </p:sp>
      <p:graphicFrame>
        <p:nvGraphicFramePr>
          <p:cNvPr id="134" name="Shape 134"/>
          <p:cNvGraphicFramePr/>
          <p:nvPr/>
        </p:nvGraphicFramePr>
        <p:xfrm>
          <a:off x="624231" y="4817800"/>
          <a:ext cx="6695802" cy="67193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15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9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59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1931"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Sun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rises</a:t>
                      </a:r>
                    </a:p>
                  </a:txBody>
                  <a:tcPr marL="121900" marR="121900" marT="121900" marB="1219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east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5" name="Shape 135"/>
          <p:cNvSpPr txBox="1"/>
          <p:nvPr/>
        </p:nvSpPr>
        <p:spPr>
          <a:xfrm>
            <a:off x="7821403" y="5018355"/>
            <a:ext cx="2802400" cy="5284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000" dirty="0">
                <a:solidFill>
                  <a:srgbClr val="0070C0"/>
                </a:solidFill>
                <a:latin typeface="Calibri" panose="020F0502020204030204" pitchFamily="34" charset="0"/>
                <a:ea typeface="Nothing You Could Do"/>
                <a:cs typeface="Calibri" panose="020F0502020204030204" pitchFamily="34" charset="0"/>
                <a:sym typeface="Nothing You Could Do"/>
              </a:rPr>
              <a:t>(rises, Sun) (rises, in)</a:t>
            </a:r>
          </a:p>
        </p:txBody>
      </p:sp>
      <p:sp>
        <p:nvSpPr>
          <p:cNvPr id="136" name="Shape 136"/>
          <p:cNvSpPr txBox="1"/>
          <p:nvPr/>
        </p:nvSpPr>
        <p:spPr>
          <a:xfrm rot="1121812">
            <a:off x="9976573" y="2341661"/>
            <a:ext cx="2047659" cy="528360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1600" dirty="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Context, Target pair</a:t>
            </a:r>
          </a:p>
        </p:txBody>
      </p:sp>
      <p:cxnSp>
        <p:nvCxnSpPr>
          <p:cNvPr id="137" name="Shape 137"/>
          <p:cNvCxnSpPr>
            <a:stCxn id="136" idx="2"/>
            <a:endCxn id="131" idx="0"/>
          </p:cNvCxnSpPr>
          <p:nvPr/>
        </p:nvCxnSpPr>
        <p:spPr>
          <a:xfrm flipH="1">
            <a:off x="9214803" y="2856041"/>
            <a:ext cx="1700800" cy="13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38" name="Shape 138"/>
          <p:cNvCxnSpPr>
            <a:stCxn id="136" idx="2"/>
          </p:cNvCxnSpPr>
          <p:nvPr/>
        </p:nvCxnSpPr>
        <p:spPr>
          <a:xfrm flipH="1">
            <a:off x="10332003" y="2856041"/>
            <a:ext cx="583600" cy="226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39" name="Shape 139"/>
          <p:cNvCxnSpPr>
            <a:stCxn id="136" idx="2"/>
            <a:endCxn id="133" idx="0"/>
          </p:cNvCxnSpPr>
          <p:nvPr/>
        </p:nvCxnSpPr>
        <p:spPr>
          <a:xfrm flipH="1">
            <a:off x="9214803" y="2856041"/>
            <a:ext cx="1700800" cy="104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grpSp>
        <p:nvGrpSpPr>
          <p:cNvPr id="14" name="Group 13"/>
          <p:cNvGrpSpPr/>
          <p:nvPr/>
        </p:nvGrpSpPr>
        <p:grpSpPr>
          <a:xfrm>
            <a:off x="-453200" y="703281"/>
            <a:ext cx="12368285" cy="523220"/>
            <a:chOff x="-453200" y="703281"/>
            <a:chExt cx="12368285" cy="523220"/>
          </a:xfrm>
        </p:grpSpPr>
        <p:sp>
          <p:nvSpPr>
            <p:cNvPr id="15" name="TextBox 14"/>
            <p:cNvSpPr txBox="1"/>
            <p:nvPr/>
          </p:nvSpPr>
          <p:spPr>
            <a:xfrm>
              <a:off x="-453200" y="703281"/>
              <a:ext cx="5769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133"/>
                </a:spcAft>
              </a:pPr>
              <a:r>
                <a:rPr lang="en" sz="2800" b="1" dirty="0">
                  <a:solidFill>
                    <a:srgbClr val="00B050"/>
                  </a:solidFill>
                  <a:latin typeface="Calibri" panose="020F0502020204030204" pitchFamily="34" charset="0"/>
                  <a:ea typeface="Comic Sans MS"/>
                  <a:cs typeface="Calibri" panose="020F0502020204030204" pitchFamily="34" charset="0"/>
                  <a:sym typeface="Comic Sans MS"/>
                </a:rPr>
                <a:t>Window size in word2vec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57644" y="1135140"/>
              <a:ext cx="11357441" cy="5953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37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0525218" y="6311822"/>
            <a:ext cx="1513700" cy="526713"/>
            <a:chOff x="10525218" y="6311822"/>
            <a:chExt cx="1513700" cy="526713"/>
          </a:xfrm>
        </p:grpSpPr>
        <p:sp>
          <p:nvSpPr>
            <p:cNvPr id="26" name="Rectangle 25"/>
            <p:cNvSpPr/>
            <p:nvPr/>
          </p:nvSpPr>
          <p:spPr>
            <a:xfrm>
              <a:off x="11612198" y="6403798"/>
              <a:ext cx="4267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Raleway" panose="020B0003030101060003" pitchFamily="34" charset="0"/>
                </a:rPr>
                <a:t>10</a:t>
              </a:r>
              <a:endParaRPr lang="en-IN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525218" y="6311822"/>
              <a:ext cx="957943" cy="5267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882964" y="1617785"/>
            <a:ext cx="88659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W2V finds similarity based on the neighboring words appearing with the target 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00B0F0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Find probability of a word being ‘nearby word’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579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/>
          <p:nvPr/>
        </p:nvSpPr>
        <p:spPr>
          <a:xfrm>
            <a:off x="226391" y="685698"/>
            <a:ext cx="4664459" cy="5700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alibri" panose="020F0502020204030204" pitchFamily="34" charset="0"/>
                <a:sym typeface="Comic Sans MS"/>
              </a:rPr>
              <a:t>WORD2VEC WINDOW SIZE</a:t>
            </a:r>
          </a:p>
        </p:txBody>
      </p:sp>
      <p:graphicFrame>
        <p:nvGraphicFramePr>
          <p:cNvPr id="145" name="Shape 145"/>
          <p:cNvGraphicFramePr/>
          <p:nvPr>
            <p:extLst>
              <p:ext uri="{D42A27DB-BD31-4B8C-83A1-F6EECF244321}">
                <p14:modId xmlns:p14="http://schemas.microsoft.com/office/powerpoint/2010/main" val="2632339853"/>
              </p:ext>
            </p:extLst>
          </p:nvPr>
        </p:nvGraphicFramePr>
        <p:xfrm>
          <a:off x="2535700" y="2341847"/>
          <a:ext cx="6695802" cy="6248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15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9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59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3192"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Sun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rises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</a:t>
                      </a:r>
                    </a:p>
                  </a:txBody>
                  <a:tcPr marL="121900" marR="121900" marT="121900" marB="1219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5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east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6" name="Shape 146"/>
          <p:cNvSpPr txBox="1"/>
          <p:nvPr/>
        </p:nvSpPr>
        <p:spPr>
          <a:xfrm>
            <a:off x="3754424" y="3571200"/>
            <a:ext cx="5669600" cy="5284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160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(in, rises) (in, the)</a:t>
            </a:r>
          </a:p>
        </p:txBody>
      </p:sp>
      <p:sp>
        <p:nvSpPr>
          <p:cNvPr id="147" name="Shape 147"/>
          <p:cNvSpPr txBox="1"/>
          <p:nvPr/>
        </p:nvSpPr>
        <p:spPr>
          <a:xfrm>
            <a:off x="795567" y="3571200"/>
            <a:ext cx="2802400" cy="5284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2489">
                <a:latin typeface="Calibri" panose="020F0502020204030204" pitchFamily="34" charset="0"/>
                <a:ea typeface="Nothing You Could Do"/>
                <a:cs typeface="Calibri" panose="020F0502020204030204" pitchFamily="34" charset="0"/>
                <a:sym typeface="Nothing You Could Do"/>
              </a:rPr>
              <a:t>Window size = 1</a:t>
            </a:r>
          </a:p>
        </p:txBody>
      </p:sp>
      <p:sp>
        <p:nvSpPr>
          <p:cNvPr id="148" name="Shape 148"/>
          <p:cNvSpPr txBox="1"/>
          <p:nvPr/>
        </p:nvSpPr>
        <p:spPr>
          <a:xfrm>
            <a:off x="3754424" y="4790400"/>
            <a:ext cx="5669600" cy="5284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160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(in, rises) (in, Sun) (in, the) (in, east)</a:t>
            </a:r>
          </a:p>
        </p:txBody>
      </p:sp>
      <p:sp>
        <p:nvSpPr>
          <p:cNvPr id="149" name="Shape 149"/>
          <p:cNvSpPr txBox="1"/>
          <p:nvPr/>
        </p:nvSpPr>
        <p:spPr>
          <a:xfrm>
            <a:off x="795567" y="4790400"/>
            <a:ext cx="2802400" cy="5284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t" anchorCtr="0">
            <a:noAutofit/>
          </a:bodyPr>
          <a:lstStyle/>
          <a:p>
            <a:pPr algn="ctr"/>
            <a:r>
              <a:rPr lang="en" sz="2489">
                <a:latin typeface="Calibri" panose="020F0502020204030204" pitchFamily="34" charset="0"/>
                <a:ea typeface="Nothing You Could Do"/>
                <a:cs typeface="Calibri" panose="020F0502020204030204" pitchFamily="34" charset="0"/>
                <a:sym typeface="Nothing You Could Do"/>
              </a:rPr>
              <a:t>Window size = 2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57644" y="1135140"/>
            <a:ext cx="11357441" cy="523220"/>
            <a:chOff x="557644" y="1135140"/>
            <a:chExt cx="11357441" cy="523220"/>
          </a:xfrm>
        </p:grpSpPr>
        <p:sp>
          <p:nvSpPr>
            <p:cNvPr id="9" name="TextBox 8"/>
            <p:cNvSpPr txBox="1"/>
            <p:nvPr/>
          </p:nvSpPr>
          <p:spPr>
            <a:xfrm>
              <a:off x="2414520" y="1135140"/>
              <a:ext cx="66466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800" b="1" spc="100" dirty="0">
                <a:solidFill>
                  <a:schemeClr val="tx2">
                    <a:lumMod val="50000"/>
                  </a:schemeClr>
                </a:solidFill>
                <a:latin typeface="Raleway" panose="020B0003030101060003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57644" y="1135140"/>
              <a:ext cx="11357441" cy="5953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37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0525218" y="6311822"/>
            <a:ext cx="1470418" cy="526713"/>
            <a:chOff x="10525218" y="6311822"/>
            <a:chExt cx="1470418" cy="526713"/>
          </a:xfrm>
        </p:grpSpPr>
        <p:sp>
          <p:nvSpPr>
            <p:cNvPr id="20" name="Rectangle 19"/>
            <p:cNvSpPr/>
            <p:nvPr/>
          </p:nvSpPr>
          <p:spPr>
            <a:xfrm>
              <a:off x="11612198" y="6403798"/>
              <a:ext cx="38343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Raleway" panose="020B0003030101060003" pitchFamily="34" charset="0"/>
                </a:rPr>
                <a:t>11</a:t>
              </a:r>
              <a:endParaRPr lang="en-IN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525218" y="6311822"/>
              <a:ext cx="957943" cy="5267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795566" y="1463040"/>
            <a:ext cx="7082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define window size when build a w2v model. Window size helps us know how many words we want as neighbors to the target words.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882" y="6034466"/>
            <a:ext cx="6500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will use window size to how useful it is in </a:t>
            </a:r>
            <a:r>
              <a:rPr lang="en-US" b="1" dirty="0"/>
              <a:t>Language Modeling</a:t>
            </a:r>
          </a:p>
        </p:txBody>
      </p:sp>
    </p:spTree>
    <p:extLst>
      <p:ext uri="{BB962C8B-B14F-4D97-AF65-F5344CB8AC3E}">
        <p14:creationId xmlns:p14="http://schemas.microsoft.com/office/powerpoint/2010/main" val="1782347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C3452-2562-4A32-96FE-B5DF2487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0" i="0">
                <a:solidFill>
                  <a:srgbClr val="3A3A3A"/>
                </a:solidFill>
                <a:effectLst/>
                <a:latin typeface="Poppins" panose="00000500000000000000" pitchFamily="2" charset="0"/>
              </a:rPr>
              <a:t>CBOW and SkipGram</a:t>
            </a:r>
            <a:endParaRPr lang="en-IN" dirty="0"/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75EDFC92-EA31-4257-ADA4-F1EDE341E8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4206583"/>
              </p:ext>
            </p:extLst>
          </p:nvPr>
        </p:nvGraphicFramePr>
        <p:xfrm>
          <a:off x="415600" y="1536633"/>
          <a:ext cx="11360800" cy="455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19970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54497-937E-4B42-9674-45C9F369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CBOW and </a:t>
            </a:r>
            <a:r>
              <a:rPr lang="en-IN" dirty="0" err="1"/>
              <a:t>SkipGram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A14B2-C3B1-44A8-A0F8-4C7D59149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 descr="Difference between skipgram and cbow - word2vec">
            <a:extLst>
              <a:ext uri="{FF2B5EF4-FFF2-40B4-BE49-F238E27FC236}">
                <a16:creationId xmlns:a16="http://schemas.microsoft.com/office/drawing/2014/main" id="{E1B4D66D-4EB9-4A59-A376-ECD2815D0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76" y="1536633"/>
            <a:ext cx="9753600" cy="512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476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pic>
        <p:nvPicPr>
          <p:cNvPr id="14338" name="Picture 2" descr="http://jalammar.github.io/images/word2vec/swiftkey-keyboar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93" y="2078271"/>
            <a:ext cx="5360804" cy="387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hape 144"/>
          <p:cNvSpPr txBox="1"/>
          <p:nvPr/>
        </p:nvSpPr>
        <p:spPr>
          <a:xfrm>
            <a:off x="-343236" y="660630"/>
            <a:ext cx="4664459" cy="5700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alibri" panose="020F0502020204030204" pitchFamily="34" charset="0"/>
                <a:sym typeface="Comic Sans MS"/>
              </a:rPr>
              <a:t>Language modeling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295869" y="3237875"/>
            <a:ext cx="56192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Language modeling is a technique in which we give input(s) to predict the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ex, </a:t>
            </a:r>
            <a:r>
              <a:rPr lang="en-US" dirty="0">
                <a:solidFill>
                  <a:srgbClr val="0070C0"/>
                </a:solidFill>
              </a:rPr>
              <a:t>Thou shalt </a:t>
            </a:r>
            <a:r>
              <a:rPr lang="en-US" dirty="0"/>
              <a:t>are two inputs, which will come next to it?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Obviously a certain word and that word is predicted with a number of other words with </a:t>
            </a:r>
            <a:r>
              <a:rPr lang="en-US" dirty="0">
                <a:solidFill>
                  <a:srgbClr val="0070C0"/>
                </a:solidFill>
              </a:rPr>
              <a:t>probabilities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Probability remains highest for the correct word.</a:t>
            </a:r>
          </a:p>
        </p:txBody>
      </p:sp>
    </p:spTree>
    <p:extLst>
      <p:ext uri="{BB962C8B-B14F-4D97-AF65-F5344CB8AC3E}">
        <p14:creationId xmlns:p14="http://schemas.microsoft.com/office/powerpoint/2010/main" val="3024691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pic>
        <p:nvPicPr>
          <p:cNvPr id="15362" name="Picture 2" descr="http://jalammar.github.io/images/word2vec/language_model_blackbox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189" y="2718212"/>
            <a:ext cx="11182350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657600" y="1643580"/>
            <a:ext cx="461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think our Language model </a:t>
            </a:r>
            <a:r>
              <a:rPr lang="en-US"/>
              <a:t>like this.</a:t>
            </a:r>
          </a:p>
        </p:txBody>
      </p:sp>
      <p:sp>
        <p:nvSpPr>
          <p:cNvPr id="7" name="Shape 144"/>
          <p:cNvSpPr txBox="1"/>
          <p:nvPr/>
        </p:nvSpPr>
        <p:spPr>
          <a:xfrm>
            <a:off x="-343236" y="660630"/>
            <a:ext cx="4664459" cy="5700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alibri" panose="020F0502020204030204" pitchFamily="34" charset="0"/>
                <a:sym typeface="Comic Sans MS"/>
              </a:rPr>
              <a:t>Language modeling</a:t>
            </a:r>
          </a:p>
        </p:txBody>
      </p:sp>
    </p:spTree>
    <p:extLst>
      <p:ext uri="{BB962C8B-B14F-4D97-AF65-F5344CB8AC3E}">
        <p14:creationId xmlns:p14="http://schemas.microsoft.com/office/powerpoint/2010/main" val="2886239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6" name="Shape 144"/>
          <p:cNvSpPr txBox="1"/>
          <p:nvPr/>
        </p:nvSpPr>
        <p:spPr>
          <a:xfrm>
            <a:off x="-343236" y="660630"/>
            <a:ext cx="4664459" cy="5700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alibri" panose="020F0502020204030204" pitchFamily="34" charset="0"/>
                <a:sym typeface="Comic Sans MS"/>
              </a:rPr>
              <a:t>Language modeling</a:t>
            </a:r>
          </a:p>
        </p:txBody>
      </p:sp>
      <p:pic>
        <p:nvPicPr>
          <p:cNvPr id="16386" name="Picture 2" descr="http://jalammar.github.io/images/word2vec/language_model_blackbox_output_vecto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244" y="2884232"/>
            <a:ext cx="7898163" cy="3868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2790121" y="1307611"/>
            <a:ext cx="689248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</a:rPr>
              <a:t>The model doesn’t output only one word.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2222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</a:rPr>
              <a:t>It actually outputs a probability score for all the words it knows.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2222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</a:rPr>
              <a:t>The keyboard has to present a word with highest probability score.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166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pic>
        <p:nvPicPr>
          <p:cNvPr id="17410" name="Picture 2" descr="http://jalammar.github.io/images/word2vec/lm-sliding-windo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573" y="2938889"/>
            <a:ext cx="7939114" cy="2064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-211255" y="685098"/>
            <a:ext cx="6274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CBOW(</a:t>
            </a:r>
            <a:r>
              <a:rPr lang="en" sz="2800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Continuous Bag of Words</a:t>
            </a: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964" y="1338519"/>
            <a:ext cx="5486400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 /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 </a:t>
            </a:r>
            <a:r>
              <a:rPr lang="en-US" sz="1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word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 A single word in a line of text.</a:t>
            </a:r>
          </a:p>
          <a:p>
            <a:r>
              <a:rPr lang="en-US" sz="1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 word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 A set of words</a:t>
            </a:r>
          </a:p>
        </p:txBody>
      </p:sp>
    </p:spTree>
    <p:extLst>
      <p:ext uri="{BB962C8B-B14F-4D97-AF65-F5344CB8AC3E}">
        <p14:creationId xmlns:p14="http://schemas.microsoft.com/office/powerpoint/2010/main" val="3006222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pic>
        <p:nvPicPr>
          <p:cNvPr id="18434" name="Picture 2" descr="http://jalammar.github.io/images/word2vec/lm-sliding-window-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773044" y="2941612"/>
            <a:ext cx="8589363" cy="241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-211255" y="685098"/>
            <a:ext cx="6274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CBOW(</a:t>
            </a:r>
            <a:r>
              <a:rPr lang="en" sz="2800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Continuous Bag of Words</a:t>
            </a: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63380" y="1672008"/>
            <a:ext cx="8499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example below we take two inputs(</a:t>
            </a:r>
            <a:r>
              <a:rPr lang="en-US" dirty="0">
                <a:solidFill>
                  <a:srgbClr val="0070C0"/>
                </a:solidFill>
              </a:rPr>
              <a:t>thou, shalt</a:t>
            </a:r>
            <a:r>
              <a:rPr lang="en-US" dirty="0"/>
              <a:t>) and predicted output is</a:t>
            </a:r>
            <a:r>
              <a:rPr lang="en-US" dirty="0">
                <a:solidFill>
                  <a:srgbClr val="FF0066"/>
                </a:solidFill>
              </a:rPr>
              <a:t> ‘not’.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That’s how next word is predicted.</a:t>
            </a:r>
            <a:endParaRPr lang="en-US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294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pic>
        <p:nvPicPr>
          <p:cNvPr id="19458" name="Picture 2" descr="http://jalammar.github.io/images/word2vec/lm-sliding-window-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6" y="2860688"/>
            <a:ext cx="9837751" cy="3187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120741" y="1714818"/>
            <a:ext cx="82312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We then slide our window to the next position and create a second sample.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-211255" y="685098"/>
            <a:ext cx="6274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CBOW(</a:t>
            </a:r>
            <a:r>
              <a:rPr lang="en" sz="2800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Continuous Bag of Words</a:t>
            </a: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388967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6" name="TextBox 5"/>
          <p:cNvSpPr txBox="1"/>
          <p:nvPr/>
        </p:nvSpPr>
        <p:spPr>
          <a:xfrm>
            <a:off x="404733" y="685098"/>
            <a:ext cx="18507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Skipgram</a:t>
            </a:r>
          </a:p>
        </p:txBody>
      </p:sp>
      <p:pic>
        <p:nvPicPr>
          <p:cNvPr id="20482" name="Picture 2" descr="http://jalammar.github.io/images/word2vec/continuous-bag-of-words-examp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87" y="3379471"/>
            <a:ext cx="10178323" cy="2138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368902" y="1697210"/>
            <a:ext cx="7734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Instead of taking a context or more than a word as input we will take  only one word as input and predict the context(a number of words) as output.</a:t>
            </a:r>
          </a:p>
        </p:txBody>
      </p:sp>
    </p:spTree>
    <p:extLst>
      <p:ext uri="{BB962C8B-B14F-4D97-AF65-F5344CB8AC3E}">
        <p14:creationId xmlns:p14="http://schemas.microsoft.com/office/powerpoint/2010/main" val="38531743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7" name="TextBox 6"/>
          <p:cNvSpPr txBox="1"/>
          <p:nvPr/>
        </p:nvSpPr>
        <p:spPr>
          <a:xfrm>
            <a:off x="404733" y="685098"/>
            <a:ext cx="18507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Skipgram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C9BFE41-EF4F-429D-B114-52984ACA7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039" y="1391776"/>
            <a:ext cx="8439150" cy="503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6644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8" name="TextBox 7"/>
          <p:cNvSpPr txBox="1"/>
          <p:nvPr/>
        </p:nvSpPr>
        <p:spPr>
          <a:xfrm>
            <a:off x="404733" y="685098"/>
            <a:ext cx="18507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Skipgram</a:t>
            </a:r>
          </a:p>
        </p:txBody>
      </p:sp>
      <p:pic>
        <p:nvPicPr>
          <p:cNvPr id="5122" name="Picture 2" descr="Skip-gram Neural Network Architecture">
            <a:extLst>
              <a:ext uri="{FF2B5EF4-FFF2-40B4-BE49-F238E27FC236}">
                <a16:creationId xmlns:a16="http://schemas.microsoft.com/office/drawing/2014/main" id="{87A306AD-C93B-4E0B-9494-1FB436FCB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027" y="1435686"/>
            <a:ext cx="8387946" cy="5239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4979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1666D-757B-44AD-A9AB-F54090F43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797B0-5DF6-4382-96EC-078A92FA1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7579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533" y="3403644"/>
            <a:ext cx="8755661" cy="272967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AF2FBE8-E6E8-4CAE-90B8-2C9C96BFE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Skipgram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A05C0B-4E6C-4D06-A90E-0B5A6E379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we insert ‘not’ as our input, and we will get the context as output.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19422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C00468-7BF1-44A3-AACB-58BD09599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Skipgram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2181B-B780-4D0B-8C64-6FB1ADDC6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913"/>
            <a:ext cx="10515600" cy="4797050"/>
          </a:xfrm>
        </p:spPr>
        <p:txBody>
          <a:bodyPr/>
          <a:lstStyle/>
          <a:p>
            <a:r>
              <a:rPr lang="en-US" dirty="0"/>
              <a:t>We slide our example to next position. Here “make” is taken as input and we will get context as output.</a:t>
            </a:r>
          </a:p>
          <a:p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AF0965E-82B2-8C23-5A05-C4C737B12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175478"/>
            <a:ext cx="9043686" cy="4474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20376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C00468-7BF1-44A3-AACB-58BD09599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Skipgram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2181B-B780-4D0B-8C64-6FB1ADDC6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287"/>
            <a:ext cx="10515600" cy="4813676"/>
          </a:xfrm>
        </p:spPr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A couple of positions later, we have a lot more examples:</a:t>
            </a:r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0677CF6-DBD6-C88A-9E0D-7CD58039D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925" y="2000921"/>
            <a:ext cx="9022207" cy="465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6335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6" name="TextBox 5"/>
          <p:cNvSpPr txBox="1"/>
          <p:nvPr/>
        </p:nvSpPr>
        <p:spPr>
          <a:xfrm>
            <a:off x="134910" y="625568"/>
            <a:ext cx="5966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Skipgram with Negative sampling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57731" y="1830831"/>
            <a:ext cx="109573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we train </a:t>
            </a:r>
            <a:r>
              <a:rPr lang="en-US" dirty="0" err="1"/>
              <a:t>skipgram</a:t>
            </a:r>
            <a:r>
              <a:rPr lang="en-US" dirty="0"/>
              <a:t> model ,the output is n-dimensional words with probability.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we 10000 words, we will get 10000 probabilities. All the probabilities are summed up to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we want word(s) with high probability.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It’s not possible to update 10000 probabilities using optimizer.--- Time consuming.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Instead we take small number of words for which word the weights will be updated to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 that’s how we can adjust actual weight for the input 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negative sampling ,we calculate loss for some randomly chosen words, then based on the loss, we perform optimization(SGD, Adam) </a:t>
            </a:r>
          </a:p>
        </p:txBody>
      </p:sp>
    </p:spTree>
    <p:extLst>
      <p:ext uri="{BB962C8B-B14F-4D97-AF65-F5344CB8AC3E}">
        <p14:creationId xmlns:p14="http://schemas.microsoft.com/office/powerpoint/2010/main" val="10215848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pic>
        <p:nvPicPr>
          <p:cNvPr id="25602" name="Picture 2" descr="http://jalammar.github.io/images/word2vec/word2vec-negative-sample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967" y="3596208"/>
            <a:ext cx="8372440" cy="305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531734" y="1604793"/>
            <a:ext cx="92889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The original paper prescribes 5-20 as being a good number of negative samples.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22222"/>
              </a:solidFill>
              <a:effectLst/>
              <a:latin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It also states that 2-5 seems to be enough when you have a large enough dataset.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22222"/>
              </a:solidFill>
              <a:effectLst/>
              <a:latin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The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Gensim</a:t>
            </a:r>
            <a:r>
              <a:rPr lang="en-US" b="0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 default is 5 negative samples.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4910" y="625568"/>
            <a:ext cx="5966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Window size and Negative sampling</a:t>
            </a:r>
          </a:p>
        </p:txBody>
      </p:sp>
    </p:spTree>
    <p:extLst>
      <p:ext uri="{BB962C8B-B14F-4D97-AF65-F5344CB8AC3E}">
        <p14:creationId xmlns:p14="http://schemas.microsoft.com/office/powerpoint/2010/main" val="11003695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217A-3DAD-432C-A04E-2CB433B4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3A3A3A"/>
                </a:solidFill>
                <a:effectLst/>
                <a:latin typeface="Public Sans"/>
              </a:rPr>
              <a:t>CBOW, </a:t>
            </a:r>
            <a:r>
              <a:rPr lang="en-IN" b="0" i="0" dirty="0" err="1">
                <a:solidFill>
                  <a:srgbClr val="3A3A3A"/>
                </a:solidFill>
                <a:effectLst/>
                <a:latin typeface="Public Sans"/>
              </a:rPr>
              <a:t>SkipGram</a:t>
            </a:r>
            <a:r>
              <a:rPr lang="en-IN" b="0" i="0" dirty="0">
                <a:solidFill>
                  <a:srgbClr val="3A3A3A"/>
                </a:solidFill>
                <a:effectLst/>
                <a:latin typeface="Public Sans"/>
              </a:rPr>
              <a:t> and </a:t>
            </a:r>
            <a:r>
              <a:rPr lang="en-IN" b="0" i="0" dirty="0" err="1">
                <a:solidFill>
                  <a:srgbClr val="3A3A3A"/>
                </a:solidFill>
                <a:effectLst/>
                <a:latin typeface="Public Sans"/>
              </a:rPr>
              <a:t>SkipGramSI</a:t>
            </a:r>
            <a:endParaRPr lang="en-IN" dirty="0"/>
          </a:p>
        </p:txBody>
      </p:sp>
      <p:pic>
        <p:nvPicPr>
          <p:cNvPr id="2050" name="Picture 2" descr="Most similar concepts for 'hotel' and 'room' using CBOW, skip-gram and skip-gram with subword information">
            <a:extLst>
              <a:ext uri="{FF2B5EF4-FFF2-40B4-BE49-F238E27FC236}">
                <a16:creationId xmlns:a16="http://schemas.microsoft.com/office/drawing/2014/main" id="{0ECA2CD5-6D31-47BF-A5AC-6C3D6A233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59" y="1754336"/>
            <a:ext cx="9753600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1421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4C50-D1D8-4724-90B4-24C79A7D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3A3A3A"/>
                </a:solidFill>
                <a:effectLst/>
                <a:latin typeface="Public Sans"/>
              </a:rPr>
              <a:t>CBOW, </a:t>
            </a:r>
            <a:r>
              <a:rPr lang="en-IN" b="0" i="0" dirty="0" err="1">
                <a:solidFill>
                  <a:srgbClr val="3A3A3A"/>
                </a:solidFill>
                <a:effectLst/>
                <a:latin typeface="Public Sans"/>
              </a:rPr>
              <a:t>SkipGram</a:t>
            </a:r>
            <a:r>
              <a:rPr lang="en-IN" b="0" i="0" dirty="0">
                <a:solidFill>
                  <a:srgbClr val="3A3A3A"/>
                </a:solidFill>
                <a:effectLst/>
                <a:latin typeface="Public Sans"/>
              </a:rPr>
              <a:t> and </a:t>
            </a:r>
            <a:r>
              <a:rPr lang="en-IN" b="0" i="0" dirty="0" err="1">
                <a:solidFill>
                  <a:srgbClr val="3A3A3A"/>
                </a:solidFill>
                <a:effectLst/>
                <a:latin typeface="Public Sans"/>
              </a:rPr>
              <a:t>SkipGramSI</a:t>
            </a:r>
            <a:endParaRPr lang="en-IN" dirty="0"/>
          </a:p>
        </p:txBody>
      </p:sp>
      <p:pic>
        <p:nvPicPr>
          <p:cNvPr id="3076" name="Picture 4" descr="Most similar concepts to 'bathroom' using CBOW, Skip-Gram and Skip-GramSI (subword information)">
            <a:extLst>
              <a:ext uri="{FF2B5EF4-FFF2-40B4-BE49-F238E27FC236}">
                <a16:creationId xmlns:a16="http://schemas.microsoft.com/office/drawing/2014/main" id="{5B543DCB-ECE9-4DB4-9844-3D933E3AA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90" y="1835508"/>
            <a:ext cx="9753600" cy="442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92500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46;p28">
            <a:extLst>
              <a:ext uri="{FF2B5EF4-FFF2-40B4-BE49-F238E27FC236}">
                <a16:creationId xmlns:a16="http://schemas.microsoft.com/office/drawing/2014/main" id="{2D7EECF4-2A52-40B6-9979-C0B9809628A8}"/>
              </a:ext>
            </a:extLst>
          </p:cNvPr>
          <p:cNvGrpSpPr/>
          <p:nvPr/>
        </p:nvGrpSpPr>
        <p:grpSpPr>
          <a:xfrm>
            <a:off x="557645" y="337125"/>
            <a:ext cx="11357441" cy="913046"/>
            <a:chOff x="557644" y="281625"/>
            <a:chExt cx="11357441" cy="913045"/>
          </a:xfrm>
        </p:grpSpPr>
        <p:grpSp>
          <p:nvGrpSpPr>
            <p:cNvPr id="5" name="Google Shape;147;p28">
              <a:extLst>
                <a:ext uri="{FF2B5EF4-FFF2-40B4-BE49-F238E27FC236}">
                  <a16:creationId xmlns:a16="http://schemas.microsoft.com/office/drawing/2014/main" id="{EDC3ED98-DD00-46B6-BF64-243A693AC01B}"/>
                </a:ext>
              </a:extLst>
            </p:cNvPr>
            <p:cNvGrpSpPr/>
            <p:nvPr/>
          </p:nvGrpSpPr>
          <p:grpSpPr>
            <a:xfrm>
              <a:off x="3179913" y="281625"/>
              <a:ext cx="5325035" cy="853515"/>
              <a:chOff x="3205793" y="21796"/>
              <a:chExt cx="5325035" cy="853515"/>
            </a:xfrm>
          </p:grpSpPr>
          <p:sp>
            <p:nvSpPr>
              <p:cNvPr id="9" name="Google Shape;148;p28">
                <a:extLst>
                  <a:ext uri="{FF2B5EF4-FFF2-40B4-BE49-F238E27FC236}">
                    <a16:creationId xmlns:a16="http://schemas.microsoft.com/office/drawing/2014/main" id="{2BD28950-A06B-4112-97B3-A01C71775573}"/>
                  </a:ext>
                </a:extLst>
              </p:cNvPr>
              <p:cNvSpPr txBox="1"/>
              <p:nvPr/>
            </p:nvSpPr>
            <p:spPr>
              <a:xfrm>
                <a:off x="3205793" y="352091"/>
                <a:ext cx="5325035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algn="ctr"/>
                <a:endParaRPr sz="2800">
                  <a:solidFill>
                    <a:srgbClr val="44546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" name="Google Shape;149;p28">
                <a:extLst>
                  <a:ext uri="{FF2B5EF4-FFF2-40B4-BE49-F238E27FC236}">
                    <a16:creationId xmlns:a16="http://schemas.microsoft.com/office/drawing/2014/main" id="{67F74FDA-EB75-48C1-A2F5-5499391D9CEC}"/>
                  </a:ext>
                </a:extLst>
              </p:cNvPr>
              <p:cNvSpPr txBox="1"/>
              <p:nvPr/>
            </p:nvSpPr>
            <p:spPr>
              <a:xfrm>
                <a:off x="5969132" y="21796"/>
                <a:ext cx="184731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algn="ctr"/>
                <a:endParaRPr sz="1100"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sp>
          <p:nvSpPr>
            <p:cNvPr id="8" name="Google Shape;152;p28">
              <a:extLst>
                <a:ext uri="{FF2B5EF4-FFF2-40B4-BE49-F238E27FC236}">
                  <a16:creationId xmlns:a16="http://schemas.microsoft.com/office/drawing/2014/main" id="{6FAD9CD1-E253-4651-BC99-69249979BD8A}"/>
                </a:ext>
              </a:extLst>
            </p:cNvPr>
            <p:cNvSpPr/>
            <p:nvPr/>
          </p:nvSpPr>
          <p:spPr>
            <a:xfrm>
              <a:off x="557644" y="1135140"/>
              <a:ext cx="11357441" cy="59530"/>
            </a:xfrm>
            <a:prstGeom prst="rect">
              <a:avLst/>
            </a:prstGeom>
            <a:solidFill>
              <a:srgbClr val="0070C0"/>
            </a:solidFill>
            <a:ln w="1270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937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3153246889"/>
              </p:ext>
            </p:extLst>
          </p:nvPr>
        </p:nvGraphicFramePr>
        <p:xfrm>
          <a:off x="1028545" y="1365440"/>
          <a:ext cx="5099439" cy="5286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193658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6" name="TextBox 5"/>
          <p:cNvSpPr txBox="1"/>
          <p:nvPr/>
        </p:nvSpPr>
        <p:spPr>
          <a:xfrm>
            <a:off x="351074" y="671450"/>
            <a:ext cx="4257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spaCy to predict similarity</a:t>
            </a:r>
            <a:endParaRPr lang="en-US" sz="2800" b="1" spc="100" dirty="0">
              <a:solidFill>
                <a:srgbClr val="00B05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459758" y="3386061"/>
            <a:ext cx="45981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44444"/>
                </a:solidFill>
                <a:effectLst/>
              </a:rPr>
              <a:t>Similarity is determined using </a:t>
            </a:r>
            <a:r>
              <a:rPr lang="en-US" b="1" i="0" dirty="0">
                <a:solidFill>
                  <a:srgbClr val="444444"/>
                </a:solidFill>
                <a:effectLst/>
              </a:rPr>
              <a:t>word vectors.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44444"/>
                </a:solidFill>
              </a:rPr>
              <a:t>It mainly uses cosine similarity(Default).</a:t>
            </a:r>
            <a:endParaRPr lang="en-US" i="0" dirty="0">
              <a:solidFill>
                <a:srgbClr val="44444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215698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6" name="TextBox 5"/>
          <p:cNvSpPr txBox="1"/>
          <p:nvPr/>
        </p:nvSpPr>
        <p:spPr>
          <a:xfrm>
            <a:off x="351074" y="671450"/>
            <a:ext cx="4257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spaCy to predict similarity</a:t>
            </a:r>
            <a:endParaRPr lang="en-US" sz="2800" b="1" spc="100" dirty="0">
              <a:solidFill>
                <a:srgbClr val="00B05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37957" y="1643865"/>
            <a:ext cx="1109940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/>
            <a:r>
              <a:rPr lang="en-US" sz="2400" b="1" i="0" dirty="0">
                <a:effectLst/>
              </a:rPr>
              <a:t>          Sentence level similarity</a:t>
            </a:r>
            <a:endParaRPr lang="en-US" b="1" i="0" dirty="0">
              <a:effectLst/>
            </a:endParaRPr>
          </a:p>
          <a:p>
            <a:endParaRPr lang="en-US" b="0" i="0" dirty="0">
              <a:effectLst/>
            </a:endParaRPr>
          </a:p>
          <a:p>
            <a:r>
              <a:rPr lang="en-US" b="0" i="0" dirty="0">
                <a:effectLst/>
              </a:rPr>
              <a:t> </a:t>
            </a:r>
            <a:r>
              <a:rPr lang="en-US" b="0" i="0" dirty="0" err="1">
                <a:effectLst/>
              </a:rPr>
              <a:t>spaCy's</a:t>
            </a:r>
            <a:r>
              <a:rPr lang="en-US" b="0" i="0" dirty="0">
                <a:effectLst/>
              </a:rPr>
              <a:t> default word vectors assign a very high similarity score to “</a:t>
            </a:r>
            <a:r>
              <a:rPr lang="en-US" b="0" i="0" dirty="0">
                <a:solidFill>
                  <a:srgbClr val="0070C0"/>
                </a:solidFill>
                <a:effectLst/>
              </a:rPr>
              <a:t>Sherry  likes Donuts</a:t>
            </a:r>
            <a:r>
              <a:rPr lang="en-US" b="0" i="0" dirty="0">
                <a:effectLst/>
              </a:rPr>
              <a:t>” and “</a:t>
            </a:r>
            <a:r>
              <a:rPr lang="en-US" b="0" i="0" dirty="0">
                <a:solidFill>
                  <a:srgbClr val="0070C0"/>
                </a:solidFill>
                <a:effectLst/>
              </a:rPr>
              <a:t>Rita likes pastry</a:t>
            </a:r>
            <a:r>
              <a:rPr lang="en-US" b="0" i="0" dirty="0">
                <a:effectLst/>
              </a:rPr>
              <a:t>".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473" y="3201024"/>
            <a:ext cx="5598890" cy="255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641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6" name="TextBox 5"/>
          <p:cNvSpPr txBox="1"/>
          <p:nvPr/>
        </p:nvSpPr>
        <p:spPr>
          <a:xfrm>
            <a:off x="351074" y="671450"/>
            <a:ext cx="4257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spaCy to predict similarity</a:t>
            </a:r>
            <a:endParaRPr lang="en-US" sz="2800" b="1" spc="100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31369" y="3304906"/>
            <a:ext cx="650363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                             </a:t>
            </a:r>
            <a:r>
              <a:rPr lang="en-US" sz="2000" b="1" dirty="0"/>
              <a:t>Word level similarity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spaCy</a:t>
            </a:r>
            <a:r>
              <a:rPr lang="en-US" dirty="0"/>
              <a:t> identifies similarity between the words in two sentences.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similarity measure is cosine similarity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44" y="1940652"/>
            <a:ext cx="3789504" cy="471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011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6" name="TextBox 5"/>
          <p:cNvSpPr txBox="1"/>
          <p:nvPr/>
        </p:nvSpPr>
        <p:spPr>
          <a:xfrm>
            <a:off x="1978709" y="1505165"/>
            <a:ext cx="929849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                 </a:t>
            </a:r>
            <a:r>
              <a:rPr lang="en-US" sz="2000" b="1" dirty="0"/>
              <a:t>Comparing similarity between token and document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                   </a:t>
            </a:r>
            <a:r>
              <a:rPr lang="en-US" dirty="0" err="1"/>
              <a:t>spaCy</a:t>
            </a:r>
            <a:r>
              <a:rPr lang="en-US" dirty="0"/>
              <a:t> identifies similarity between the token in document. 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210" y="685098"/>
            <a:ext cx="4257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spaCy to predict similarity</a:t>
            </a:r>
            <a:endParaRPr lang="en-US" sz="2800" b="1" spc="100" dirty="0">
              <a:solidFill>
                <a:srgbClr val="00B05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003" y="3033118"/>
            <a:ext cx="6444372" cy="279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770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125" y="3222728"/>
            <a:ext cx="7150397" cy="24435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9210" y="685098"/>
            <a:ext cx="4257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spaCy to predict similarity</a:t>
            </a:r>
            <a:endParaRPr lang="en-US" sz="2800" b="1" spc="100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78709" y="1505165"/>
            <a:ext cx="929849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                 </a:t>
            </a:r>
            <a:r>
              <a:rPr lang="en-US" sz="2000" b="1" dirty="0"/>
              <a:t>Comparing similarity between span and document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                   </a:t>
            </a:r>
            <a:r>
              <a:rPr lang="en-US" dirty="0" err="1"/>
              <a:t>spaCy</a:t>
            </a:r>
            <a:r>
              <a:rPr lang="en-US" dirty="0"/>
              <a:t> identifies similarity between the span and document.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1003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2" name="Rectangle 1"/>
          <p:cNvSpPr/>
          <p:nvPr/>
        </p:nvSpPr>
        <p:spPr>
          <a:xfrm>
            <a:off x="2188564" y="3065090"/>
            <a:ext cx="866851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</a:rPr>
              <a:t>Predicting similarity can be useful for many types of applications.</a:t>
            </a:r>
          </a:p>
          <a:p>
            <a:endParaRPr lang="en-US" b="0" i="0" dirty="0">
              <a:solidFill>
                <a:srgbClr val="777777"/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For example, to recommend a user similar texts based on the ones they have read.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It can also be helpful to flag duplicate content, like posts on an online platform.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9961" y="685098"/>
            <a:ext cx="4257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Usefulnes of similarity</a:t>
            </a:r>
            <a:endParaRPr lang="en-US" sz="2800" b="1" spc="1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5053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192" y="1941693"/>
            <a:ext cx="7390614" cy="39194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4931" y="3324435"/>
            <a:ext cx="45322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err="1">
                <a:effectLst/>
              </a:rPr>
              <a:t>spaCy’s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solidFill>
                  <a:srgbClr val="00B050"/>
                </a:solidFill>
                <a:effectLst/>
              </a:rPr>
              <a:t>en_core_web_md</a:t>
            </a:r>
            <a:r>
              <a:rPr lang="en-US" b="0" i="0" dirty="0">
                <a:effectLst/>
              </a:rPr>
              <a:t> model </a:t>
            </a:r>
            <a:r>
              <a:rPr lang="en-US" dirty="0"/>
              <a:t>enables us to access to 300 dimension vector of any token.</a:t>
            </a:r>
          </a:p>
          <a:p>
            <a:endParaRPr lang="en-US" dirty="0"/>
          </a:p>
          <a:p>
            <a:r>
              <a:rPr lang="en-US" dirty="0"/>
              <a:t>For example, the vector representation of word ‘jackpot’ given in the diagram beside.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773" y="715078"/>
            <a:ext cx="3677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W</a:t>
            </a: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ord2vector of spaCy</a:t>
            </a:r>
            <a:endParaRPr lang="en-US" sz="2800" b="1" spc="1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6138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44" y="1307611"/>
            <a:ext cx="4507511" cy="53570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4886" y="3243348"/>
            <a:ext cx="42272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table shows if each token is a vector.</a:t>
            </a:r>
          </a:p>
          <a:p>
            <a:endParaRPr lang="en-US" b="1" dirty="0"/>
          </a:p>
          <a:p>
            <a:r>
              <a:rPr lang="en-US" b="1" dirty="0"/>
              <a:t>Vector norm</a:t>
            </a:r>
            <a:r>
              <a:rPr lang="en-US" dirty="0"/>
              <a:t>: The L2 norm of the token’s vector (the square root of the sum of the values squared)</a:t>
            </a:r>
          </a:p>
          <a:p>
            <a:endParaRPr lang="en-US" b="1" dirty="0"/>
          </a:p>
          <a:p>
            <a:r>
              <a:rPr lang="en-US" b="1" dirty="0"/>
              <a:t>OOV: </a:t>
            </a:r>
            <a:r>
              <a:rPr lang="en-US" dirty="0"/>
              <a:t>Check if a token is out of vocab.</a:t>
            </a:r>
            <a:endParaRPr lang="en-US" b="1" dirty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-464695" y="734745"/>
            <a:ext cx="10193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W</a:t>
            </a: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ord2vector of spaCy: </a:t>
            </a:r>
            <a:r>
              <a:rPr lang="en" sz="2800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Some more properties of vectors</a:t>
            </a:r>
            <a:endParaRPr lang="en-US" sz="2800" spc="1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4832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46;p28">
            <a:extLst>
              <a:ext uri="{FF2B5EF4-FFF2-40B4-BE49-F238E27FC236}">
                <a16:creationId xmlns:a16="http://schemas.microsoft.com/office/drawing/2014/main" id="{2D7EECF4-2A52-40B6-9979-C0B9809628A8}"/>
              </a:ext>
            </a:extLst>
          </p:cNvPr>
          <p:cNvGrpSpPr/>
          <p:nvPr/>
        </p:nvGrpSpPr>
        <p:grpSpPr>
          <a:xfrm>
            <a:off x="557645" y="337125"/>
            <a:ext cx="11357441" cy="913046"/>
            <a:chOff x="557644" y="281625"/>
            <a:chExt cx="11357441" cy="913045"/>
          </a:xfrm>
        </p:grpSpPr>
        <p:grpSp>
          <p:nvGrpSpPr>
            <p:cNvPr id="5" name="Google Shape;147;p28">
              <a:extLst>
                <a:ext uri="{FF2B5EF4-FFF2-40B4-BE49-F238E27FC236}">
                  <a16:creationId xmlns:a16="http://schemas.microsoft.com/office/drawing/2014/main" id="{EDC3ED98-DD00-46B6-BF64-243A693AC01B}"/>
                </a:ext>
              </a:extLst>
            </p:cNvPr>
            <p:cNvGrpSpPr/>
            <p:nvPr/>
          </p:nvGrpSpPr>
          <p:grpSpPr>
            <a:xfrm>
              <a:off x="3179913" y="281625"/>
              <a:ext cx="5325035" cy="853515"/>
              <a:chOff x="3205793" y="21796"/>
              <a:chExt cx="5325035" cy="853515"/>
            </a:xfrm>
          </p:grpSpPr>
          <p:sp>
            <p:nvSpPr>
              <p:cNvPr id="9" name="Google Shape;148;p28">
                <a:extLst>
                  <a:ext uri="{FF2B5EF4-FFF2-40B4-BE49-F238E27FC236}">
                    <a16:creationId xmlns:a16="http://schemas.microsoft.com/office/drawing/2014/main" id="{2BD28950-A06B-4112-97B3-A01C71775573}"/>
                  </a:ext>
                </a:extLst>
              </p:cNvPr>
              <p:cNvSpPr txBox="1"/>
              <p:nvPr/>
            </p:nvSpPr>
            <p:spPr>
              <a:xfrm>
                <a:off x="3205793" y="352091"/>
                <a:ext cx="5325035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algn="ctr"/>
                <a:endParaRPr sz="2800">
                  <a:solidFill>
                    <a:srgbClr val="44546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" name="Google Shape;149;p28">
                <a:extLst>
                  <a:ext uri="{FF2B5EF4-FFF2-40B4-BE49-F238E27FC236}">
                    <a16:creationId xmlns:a16="http://schemas.microsoft.com/office/drawing/2014/main" id="{67F74FDA-EB75-48C1-A2F5-5499391D9CEC}"/>
                  </a:ext>
                </a:extLst>
              </p:cNvPr>
              <p:cNvSpPr txBox="1"/>
              <p:nvPr/>
            </p:nvSpPr>
            <p:spPr>
              <a:xfrm>
                <a:off x="5969132" y="21796"/>
                <a:ext cx="184731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algn="ctr"/>
                <a:endParaRPr sz="1100"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sp>
          <p:nvSpPr>
            <p:cNvPr id="8" name="Google Shape;152;p28">
              <a:extLst>
                <a:ext uri="{FF2B5EF4-FFF2-40B4-BE49-F238E27FC236}">
                  <a16:creationId xmlns:a16="http://schemas.microsoft.com/office/drawing/2014/main" id="{6FAD9CD1-E253-4651-BC99-69249979BD8A}"/>
                </a:ext>
              </a:extLst>
            </p:cNvPr>
            <p:cNvSpPr/>
            <p:nvPr/>
          </p:nvSpPr>
          <p:spPr>
            <a:xfrm>
              <a:off x="557644" y="1135140"/>
              <a:ext cx="11357441" cy="59530"/>
            </a:xfrm>
            <a:prstGeom prst="rect">
              <a:avLst/>
            </a:prstGeom>
            <a:solidFill>
              <a:srgbClr val="0070C0"/>
            </a:solidFill>
            <a:ln w="1270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937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1734271300"/>
              </p:ext>
            </p:extLst>
          </p:nvPr>
        </p:nvGraphicFramePr>
        <p:xfrm>
          <a:off x="1028545" y="1365440"/>
          <a:ext cx="5099439" cy="5286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690070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2" name="TextBox 1"/>
          <p:cNvSpPr txBox="1"/>
          <p:nvPr/>
        </p:nvSpPr>
        <p:spPr>
          <a:xfrm>
            <a:off x="3822492" y="3612630"/>
            <a:ext cx="5201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Please refer to the hands-on notebooks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709" y="739421"/>
            <a:ext cx="217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Case study</a:t>
            </a:r>
            <a:endParaRPr lang="en-US" sz="2800" spc="1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3992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sp>
        <p:nvSpPr>
          <p:cNvPr id="2" name="TextBox 1"/>
          <p:cNvSpPr txBox="1"/>
          <p:nvPr/>
        </p:nvSpPr>
        <p:spPr>
          <a:xfrm>
            <a:off x="4242217" y="3552668"/>
            <a:ext cx="3207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Reference slides</a:t>
            </a:r>
          </a:p>
        </p:txBody>
      </p:sp>
    </p:spTree>
    <p:extLst>
      <p:ext uri="{BB962C8B-B14F-4D97-AF65-F5344CB8AC3E}">
        <p14:creationId xmlns:p14="http://schemas.microsoft.com/office/powerpoint/2010/main" val="29842706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57644" y="1135140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grpSp>
        <p:nvGrpSpPr>
          <p:cNvPr id="14" name="Group 13"/>
          <p:cNvGrpSpPr/>
          <p:nvPr/>
        </p:nvGrpSpPr>
        <p:grpSpPr>
          <a:xfrm>
            <a:off x="10525218" y="6311822"/>
            <a:ext cx="1540950" cy="526713"/>
            <a:chOff x="10525218" y="6311822"/>
            <a:chExt cx="1540950" cy="526713"/>
          </a:xfrm>
        </p:grpSpPr>
        <p:sp>
          <p:nvSpPr>
            <p:cNvPr id="15" name="Rectangle 14"/>
            <p:cNvSpPr/>
            <p:nvPr/>
          </p:nvSpPr>
          <p:spPr>
            <a:xfrm>
              <a:off x="11612198" y="6403798"/>
              <a:ext cx="4539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Raleway" panose="020B0003030101060003" pitchFamily="34" charset="0"/>
                </a:rPr>
                <a:t>07</a:t>
              </a:r>
              <a:endParaRPr lang="en-IN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0525218" y="6311822"/>
              <a:ext cx="957943" cy="5267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-136304" y="671450"/>
            <a:ext cx="6274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CBOW(</a:t>
            </a:r>
            <a:r>
              <a:rPr lang="en" sz="2800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Continuous Bag of Words</a:t>
            </a: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7644" y="1164905"/>
            <a:ext cx="5486400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 word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 A single word in a line of text.</a:t>
            </a:r>
          </a:p>
          <a:p>
            <a:r>
              <a:rPr lang="en-US" sz="1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 word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 A set of words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972" y="1861647"/>
            <a:ext cx="8908784" cy="493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878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57644" y="1135140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  <p:grpSp>
        <p:nvGrpSpPr>
          <p:cNvPr id="15" name="Group 14"/>
          <p:cNvGrpSpPr/>
          <p:nvPr/>
        </p:nvGrpSpPr>
        <p:grpSpPr>
          <a:xfrm>
            <a:off x="10525218" y="6311822"/>
            <a:ext cx="1552172" cy="526713"/>
            <a:chOff x="10525218" y="6311822"/>
            <a:chExt cx="1552172" cy="526713"/>
          </a:xfrm>
        </p:grpSpPr>
        <p:sp>
          <p:nvSpPr>
            <p:cNvPr id="16" name="Rectangle 15"/>
            <p:cNvSpPr/>
            <p:nvPr/>
          </p:nvSpPr>
          <p:spPr>
            <a:xfrm>
              <a:off x="11612198" y="6403798"/>
              <a:ext cx="4651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Raleway" panose="020B0003030101060003" pitchFamily="34" charset="0"/>
                </a:rPr>
                <a:t>08</a:t>
              </a:r>
              <a:endParaRPr lang="en-IN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25218" y="6311822"/>
              <a:ext cx="957943" cy="5267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Rectangle 1"/>
          <p:cNvSpPr/>
          <p:nvPr/>
        </p:nvSpPr>
        <p:spPr>
          <a:xfrm>
            <a:off x="557644" y="1293963"/>
            <a:ext cx="11687646" cy="66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Focus word is </a:t>
            </a:r>
            <a:r>
              <a:rPr lang="en-US" sz="1800" b="1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dies</a:t>
            </a:r>
            <a:r>
              <a:rPr lang="en-US" sz="18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&amp; context words are neighboring words like the , sun, everyday ,for,  moon.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CBOW tries to predict the focus word based on the context(input). 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469" y="2276703"/>
            <a:ext cx="8230749" cy="44964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-136304" y="671450"/>
            <a:ext cx="6274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CBOW(</a:t>
            </a:r>
            <a:r>
              <a:rPr lang="en" sz="2800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Continuous Bag of Words</a:t>
            </a:r>
            <a:r>
              <a:rPr lang="en" sz="2800" b="1" dirty="0">
                <a:solidFill>
                  <a:srgbClr val="00B050"/>
                </a:solidFill>
                <a:ea typeface="Comic Sans MS"/>
                <a:cs typeface="Comic Sans MS"/>
                <a:sym typeface="Comic Sans M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51242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8707" y="728242"/>
            <a:ext cx="11826378" cy="523220"/>
            <a:chOff x="88707" y="728242"/>
            <a:chExt cx="11826378" cy="523220"/>
          </a:xfrm>
        </p:grpSpPr>
        <p:sp>
          <p:nvSpPr>
            <p:cNvPr id="5" name="TextBox 4"/>
            <p:cNvSpPr txBox="1"/>
            <p:nvPr/>
          </p:nvSpPr>
          <p:spPr>
            <a:xfrm>
              <a:off x="88707" y="728242"/>
              <a:ext cx="26078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" sz="2800" b="1" dirty="0">
                  <a:solidFill>
                    <a:srgbClr val="00B050"/>
                  </a:solidFill>
                  <a:ea typeface="Comic Sans MS"/>
                  <a:cs typeface="Comic Sans MS"/>
                  <a:sym typeface="Comic Sans MS"/>
                </a:rPr>
                <a:t>SKIP-GRAM</a:t>
              </a:r>
              <a:endParaRPr lang="en-US" sz="2800" b="1" spc="100" dirty="0">
                <a:solidFill>
                  <a:srgbClr val="00B050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557644" y="1135140"/>
              <a:ext cx="11357441" cy="5953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37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0525218" y="6311822"/>
            <a:ext cx="1552172" cy="526713"/>
            <a:chOff x="10525218" y="6311822"/>
            <a:chExt cx="1552172" cy="526713"/>
          </a:xfrm>
        </p:grpSpPr>
        <p:sp>
          <p:nvSpPr>
            <p:cNvPr id="16" name="Rectangle 15"/>
            <p:cNvSpPr/>
            <p:nvPr/>
          </p:nvSpPr>
          <p:spPr>
            <a:xfrm>
              <a:off x="11612198" y="6403798"/>
              <a:ext cx="4651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Raleway" panose="020B0003030101060003" pitchFamily="34" charset="0"/>
                </a:rPr>
                <a:t>08</a:t>
              </a:r>
              <a:endParaRPr lang="en-IN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25218" y="6311822"/>
              <a:ext cx="957943" cy="5267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Rectangle 1"/>
          <p:cNvSpPr/>
          <p:nvPr/>
        </p:nvSpPr>
        <p:spPr>
          <a:xfrm>
            <a:off x="2169380" y="1263284"/>
            <a:ext cx="7894124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Skip-gram is the flip of CBOW. Here we predict the context given a focused word.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517" y="1559909"/>
            <a:ext cx="6839850" cy="463840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6931" y="6038792"/>
            <a:ext cx="11425069" cy="66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focus word is represented on a N-dimensional hidden layer and from hidden layer a number of context words are predicted using a number of </a:t>
            </a:r>
            <a:r>
              <a:rPr lang="en-US" sz="1800" b="1" dirty="0" err="1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US" sz="1800" b="1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(SM)</a:t>
            </a:r>
            <a:r>
              <a:rPr lang="en-US" sz="18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classifier.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2483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 txBox="1"/>
          <p:nvPr/>
        </p:nvSpPr>
        <p:spPr>
          <a:xfrm>
            <a:off x="280729" y="660630"/>
            <a:ext cx="8949127" cy="5700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spcAft>
                <a:spcPts val="2133"/>
              </a:spcAft>
            </a:pPr>
            <a:r>
              <a:rPr lang="en" sz="2800" b="1" dirty="0">
                <a:solidFill>
                  <a:srgbClr val="00B050"/>
                </a:solidFill>
                <a:latin typeface="Calibri" panose="020F0502020204030204" pitchFamily="34" charset="0"/>
                <a:ea typeface="Comic Sans MS"/>
                <a:cs typeface="Calibri" panose="020F0502020204030204" pitchFamily="34" charset="0"/>
                <a:sym typeface="Comic Sans MS"/>
              </a:rPr>
              <a:t>More comprehensive Understanding of Skip-Gram model</a:t>
            </a:r>
          </a:p>
        </p:txBody>
      </p:sp>
      <p:pic>
        <p:nvPicPr>
          <p:cNvPr id="222" name="Shape 2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649" y="1297401"/>
            <a:ext cx="8350704" cy="529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212EDA4-2755-4D19-93B9-62881A7CF811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</p:spTree>
    <p:extLst>
      <p:ext uri="{BB962C8B-B14F-4D97-AF65-F5344CB8AC3E}">
        <p14:creationId xmlns:p14="http://schemas.microsoft.com/office/powerpoint/2010/main" val="24286975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99099" y="671450"/>
            <a:ext cx="12014184" cy="523220"/>
            <a:chOff x="-99099" y="671450"/>
            <a:chExt cx="12014184" cy="523220"/>
          </a:xfrm>
        </p:grpSpPr>
        <p:sp>
          <p:nvSpPr>
            <p:cNvPr id="5" name="TextBox 4"/>
            <p:cNvSpPr txBox="1"/>
            <p:nvPr/>
          </p:nvSpPr>
          <p:spPr>
            <a:xfrm>
              <a:off x="-99099" y="671450"/>
              <a:ext cx="42572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" sz="2800" b="1" dirty="0">
                  <a:solidFill>
                    <a:srgbClr val="00B050"/>
                  </a:solidFill>
                  <a:ea typeface="Comic Sans MS"/>
                  <a:cs typeface="Comic Sans MS"/>
                  <a:sym typeface="Comic Sans MS"/>
                </a:rPr>
                <a:t>CBOW Vs SKIP-GRAM</a:t>
              </a:r>
              <a:endParaRPr lang="en-US" sz="2800" b="1" spc="100" dirty="0">
                <a:solidFill>
                  <a:srgbClr val="00B050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557644" y="1135140"/>
              <a:ext cx="11357441" cy="5953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37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0525218" y="6311822"/>
            <a:ext cx="1552172" cy="526713"/>
            <a:chOff x="10525218" y="6311822"/>
            <a:chExt cx="1552172" cy="526713"/>
          </a:xfrm>
        </p:grpSpPr>
        <p:sp>
          <p:nvSpPr>
            <p:cNvPr id="16" name="Rectangle 15"/>
            <p:cNvSpPr/>
            <p:nvPr/>
          </p:nvSpPr>
          <p:spPr>
            <a:xfrm>
              <a:off x="11612198" y="6403798"/>
              <a:ext cx="4651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Raleway" panose="020B0003030101060003" pitchFamily="34" charset="0"/>
                </a:rPr>
                <a:t>08</a:t>
              </a:r>
              <a:endParaRPr lang="en-IN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25218" y="6311822"/>
              <a:ext cx="957943" cy="5267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Rectangle 2"/>
          <p:cNvSpPr/>
          <p:nvPr/>
        </p:nvSpPr>
        <p:spPr>
          <a:xfrm>
            <a:off x="1738859" y="2833218"/>
            <a:ext cx="93838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CBOW vs SKIPGRAM</a:t>
            </a:r>
            <a:endParaRPr lang="en-US" sz="1800" dirty="0">
              <a:solidFill>
                <a:srgbClr val="21212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skip-gram a number of </a:t>
            </a:r>
            <a:r>
              <a:rPr lang="en-US" sz="1800" dirty="0" err="1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US" sz="18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classifiers are required where as in CBOW only one </a:t>
            </a:r>
            <a:r>
              <a:rPr lang="en-US" sz="1800" dirty="0" err="1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US" sz="18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required that's why Skip-gram is computationally more expensive than CBOW ,hence CBOW is faster than skip-gram.</a:t>
            </a:r>
          </a:p>
          <a:p>
            <a:endParaRPr lang="en-US" sz="1800" dirty="0">
              <a:solidFill>
                <a:srgbClr val="21212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CBOW works better frequently occurring words where as skip-gram works better in opposite manner.</a:t>
            </a:r>
          </a:p>
        </p:txBody>
      </p:sp>
    </p:spTree>
    <p:extLst>
      <p:ext uri="{BB962C8B-B14F-4D97-AF65-F5344CB8AC3E}">
        <p14:creationId xmlns:p14="http://schemas.microsoft.com/office/powerpoint/2010/main" val="3442297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A0EAD-C972-4BCF-92D1-7D5E1C0F5365}"/>
              </a:ext>
            </a:extLst>
          </p:cNvPr>
          <p:cNvSpPr/>
          <p:nvPr/>
        </p:nvSpPr>
        <p:spPr>
          <a:xfrm>
            <a:off x="557644" y="1148788"/>
            <a:ext cx="11357441" cy="5953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7"/>
          </a:p>
        </p:txBody>
      </p:sp>
    </p:spTree>
    <p:extLst>
      <p:ext uri="{BB962C8B-B14F-4D97-AF65-F5344CB8AC3E}">
        <p14:creationId xmlns:p14="http://schemas.microsoft.com/office/powerpoint/2010/main" val="2944414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2185</Words>
  <Application>Microsoft Office PowerPoint</Application>
  <PresentationFormat>Widescreen</PresentationFormat>
  <Paragraphs>296</Paragraphs>
  <Slides>61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2" baseType="lpstr">
      <vt:lpstr>Arial</vt:lpstr>
      <vt:lpstr>Calibri</vt:lpstr>
      <vt:lpstr>Calibri Light</vt:lpstr>
      <vt:lpstr>Comic Sans MS</vt:lpstr>
      <vt:lpstr>Helvetica</vt:lpstr>
      <vt:lpstr>Montserrat</vt:lpstr>
      <vt:lpstr>Poppins</vt:lpstr>
      <vt:lpstr>Public Sans</vt:lpstr>
      <vt:lpstr>Raleway</vt:lpstr>
      <vt:lpstr>Roboto</vt:lpstr>
      <vt:lpstr>Office Theme</vt:lpstr>
      <vt:lpstr>Word2vec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Word2Vec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CBOW and SkipGram</vt:lpstr>
      <vt:lpstr>CBOW and SkipGram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Skipgram</vt:lpstr>
      <vt:lpstr>Skipgram </vt:lpstr>
      <vt:lpstr>Skipgram </vt:lpstr>
      <vt:lpstr>PowerPoint Presentation</vt:lpstr>
      <vt:lpstr>PowerPoint Presentation</vt:lpstr>
      <vt:lpstr>CBOW, SkipGram and SkipGramSI</vt:lpstr>
      <vt:lpstr>CBOW, SkipGram and SkipGramSI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Word2vec</dc:title>
  <dc:creator>Anshu Pandey</dc:creator>
  <cp:lastModifiedBy>Anshu Pandey</cp:lastModifiedBy>
  <cp:revision>3</cp:revision>
  <dcterms:created xsi:type="dcterms:W3CDTF">2020-10-05T07:02:09Z</dcterms:created>
  <dcterms:modified xsi:type="dcterms:W3CDTF">2022-06-15T05:20:15Z</dcterms:modified>
</cp:coreProperties>
</file>